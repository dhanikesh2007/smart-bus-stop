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80" r:id="rId2"/>
    <p:sldId id="262" r:id="rId3"/>
    <p:sldId id="271" r:id="rId4"/>
    <p:sldId id="272" r:id="rId5"/>
    <p:sldId id="273" r:id="rId6"/>
    <p:sldId id="268" r:id="rId7"/>
    <p:sldId id="264" r:id="rId8"/>
    <p:sldId id="265" r:id="rId9"/>
    <p:sldId id="266" r:id="rId10"/>
    <p:sldId id="267" r:id="rId11"/>
    <p:sldId id="278" r:id="rId12"/>
    <p:sldId id="277" r:id="rId13"/>
    <p:sldId id="274" r:id="rId14"/>
    <p:sldId id="275" r:id="rId15"/>
    <p:sldId id="27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CEC6F0-70E4-4076-9D80-60377776CF6F}" v="8" dt="2025-11-18T16:00:24.8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41" autoAdjust="0"/>
  </p:normalViewPr>
  <p:slideViewPr>
    <p:cSldViewPr snapToGrid="0">
      <p:cViewPr varScale="1">
        <p:scale>
          <a:sx n="78" d="100"/>
          <a:sy n="78" d="100"/>
        </p:scale>
        <p:origin x="878"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k Sakthivel" userId="4e8c6c090e943ae6" providerId="LiveId" clId="{B31BCC09-F3AB-4D7C-A456-8C71B48B9E3B}"/>
    <pc:docChg chg="undo custSel modSld">
      <pc:chgData name="Deepak Sakthivel" userId="4e8c6c090e943ae6" providerId="LiveId" clId="{B31BCC09-F3AB-4D7C-A456-8C71B48B9E3B}" dt="2025-11-18T16:00:57.693" v="181" actId="1076"/>
      <pc:docMkLst>
        <pc:docMk/>
      </pc:docMkLst>
      <pc:sldChg chg="addSp modSp mod">
        <pc:chgData name="Deepak Sakthivel" userId="4e8c6c090e943ae6" providerId="LiveId" clId="{B31BCC09-F3AB-4D7C-A456-8C71B48B9E3B}" dt="2025-11-05T10:18:19.884" v="178" actId="1076"/>
        <pc:sldMkLst>
          <pc:docMk/>
          <pc:sldMk cId="791744443" sldId="268"/>
        </pc:sldMkLst>
        <pc:spChg chg="add mod">
          <ac:chgData name="Deepak Sakthivel" userId="4e8c6c090e943ae6" providerId="LiveId" clId="{B31BCC09-F3AB-4D7C-A456-8C71B48B9E3B}" dt="2025-11-05T10:18:19.884" v="178" actId="1076"/>
          <ac:spMkLst>
            <pc:docMk/>
            <pc:sldMk cId="791744443" sldId="268"/>
            <ac:spMk id="2" creationId="{2445B2C0-68CC-CA33-5E59-3BBB3DF6C50B}"/>
          </ac:spMkLst>
        </pc:spChg>
      </pc:sldChg>
      <pc:sldChg chg="addSp modSp mod">
        <pc:chgData name="Deepak Sakthivel" userId="4e8c6c090e943ae6" providerId="LiveId" clId="{B31BCC09-F3AB-4D7C-A456-8C71B48B9E3B}" dt="2025-11-18T16:00:57.693" v="181" actId="1076"/>
        <pc:sldMkLst>
          <pc:docMk/>
          <pc:sldMk cId="2797269530" sldId="278"/>
        </pc:sldMkLst>
        <pc:spChg chg="add mod">
          <ac:chgData name="Deepak Sakthivel" userId="4e8c6c090e943ae6" providerId="LiveId" clId="{B31BCC09-F3AB-4D7C-A456-8C71B48B9E3B}" dt="2025-11-05T10:05:09.206" v="56" actId="1076"/>
          <ac:spMkLst>
            <pc:docMk/>
            <pc:sldMk cId="2797269530" sldId="278"/>
            <ac:spMk id="5" creationId="{C0AE953F-8164-D14B-9237-E755BF679716}"/>
          </ac:spMkLst>
        </pc:spChg>
        <pc:picChg chg="add mod">
          <ac:chgData name="Deepak Sakthivel" userId="4e8c6c090e943ae6" providerId="LiveId" clId="{B31BCC09-F3AB-4D7C-A456-8C71B48B9E3B}" dt="2025-11-18T16:00:17.627" v="180"/>
          <ac:picMkLst>
            <pc:docMk/>
            <pc:sldMk cId="2797269530" sldId="278"/>
            <ac:picMk id="2" creationId="{97B7DA6A-5D65-CBF4-1A4F-9C5E5C64ADBE}"/>
          </ac:picMkLst>
        </pc:picChg>
        <pc:picChg chg="add mod">
          <ac:chgData name="Deepak Sakthivel" userId="4e8c6c090e943ae6" providerId="LiveId" clId="{B31BCC09-F3AB-4D7C-A456-8C71B48B9E3B}" dt="2025-11-05T10:08:31.414" v="91" actId="1076"/>
          <ac:picMkLst>
            <pc:docMk/>
            <pc:sldMk cId="2797269530" sldId="278"/>
            <ac:picMk id="3" creationId="{1E5EFC51-CA47-8A49-353D-B5F0664C1D45}"/>
          </ac:picMkLst>
        </pc:picChg>
        <pc:picChg chg="add mod">
          <ac:chgData name="Deepak Sakthivel" userId="4e8c6c090e943ae6" providerId="LiveId" clId="{B31BCC09-F3AB-4D7C-A456-8C71B48B9E3B}" dt="2025-11-18T16:00:14.885" v="179" actId="1076"/>
          <ac:picMkLst>
            <pc:docMk/>
            <pc:sldMk cId="2797269530" sldId="278"/>
            <ac:picMk id="14" creationId="{DD172EBF-B710-497E-532A-F2CC50BE8E8C}"/>
          </ac:picMkLst>
        </pc:picChg>
        <pc:picChg chg="add mod">
          <ac:chgData name="Deepak Sakthivel" userId="4e8c6c090e943ae6" providerId="LiveId" clId="{B31BCC09-F3AB-4D7C-A456-8C71B48B9E3B}" dt="2025-11-05T10:06:09.011" v="67" actId="1076"/>
          <ac:picMkLst>
            <pc:docMk/>
            <pc:sldMk cId="2797269530" sldId="278"/>
            <ac:picMk id="17" creationId="{D2BC44A6-9562-414F-9B06-BC8C99B66461}"/>
          </ac:picMkLst>
        </pc:picChg>
        <pc:picChg chg="add mod">
          <ac:chgData name="Deepak Sakthivel" userId="4e8c6c090e943ae6" providerId="LiveId" clId="{B31BCC09-F3AB-4D7C-A456-8C71B48B9E3B}" dt="2025-11-18T16:00:57.693" v="181" actId="1076"/>
          <ac:picMkLst>
            <pc:docMk/>
            <pc:sldMk cId="2797269530" sldId="278"/>
            <ac:picMk id="31" creationId="{D9E0C664-CA7B-AD60-22F6-E1671DBC9ADA}"/>
          </ac:picMkLst>
        </pc:picChg>
        <pc:cxnChg chg="add mod">
          <ac:chgData name="Deepak Sakthivel" userId="4e8c6c090e943ae6" providerId="LiveId" clId="{B31BCC09-F3AB-4D7C-A456-8C71B48B9E3B}" dt="2025-11-05T10:07:37.911" v="82" actId="14100"/>
          <ac:cxnSpMkLst>
            <pc:docMk/>
            <pc:sldMk cId="2797269530" sldId="278"/>
            <ac:cxnSpMk id="9" creationId="{EC644BAD-6575-9449-D691-D7008BE14E37}"/>
          </ac:cxnSpMkLst>
        </pc:cxnChg>
        <pc:cxnChg chg="add mod">
          <ac:chgData name="Deepak Sakthivel" userId="4e8c6c090e943ae6" providerId="LiveId" clId="{B31BCC09-F3AB-4D7C-A456-8C71B48B9E3B}" dt="2025-11-05T10:07:53.751" v="84" actId="14100"/>
          <ac:cxnSpMkLst>
            <pc:docMk/>
            <pc:sldMk cId="2797269530" sldId="278"/>
            <ac:cxnSpMk id="20" creationId="{F5D6BCAB-D0F4-DAB8-3189-FAAEEC5938BE}"/>
          </ac:cxnSpMkLst>
        </pc:cxnChg>
        <pc:cxnChg chg="add mod">
          <ac:chgData name="Deepak Sakthivel" userId="4e8c6c090e943ae6" providerId="LiveId" clId="{B31BCC09-F3AB-4D7C-A456-8C71B48B9E3B}" dt="2025-11-05T10:11:02.828" v="155" actId="1036"/>
          <ac:cxnSpMkLst>
            <pc:docMk/>
            <pc:sldMk cId="2797269530" sldId="278"/>
            <ac:cxnSpMk id="33" creationId="{A8E2C496-B955-0A12-615F-F3565A7F0D4E}"/>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A3051BB-7020-6CDA-F623-B1EF800D7F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BDA6634-998E-895E-6374-4CBF169F313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IN"/>
          </a:p>
        </p:txBody>
      </p:sp>
      <p:sp>
        <p:nvSpPr>
          <p:cNvPr id="4" name="Footer Placeholder 3">
            <a:extLst>
              <a:ext uri="{FF2B5EF4-FFF2-40B4-BE49-F238E27FC236}">
                <a16:creationId xmlns:a16="http://schemas.microsoft.com/office/drawing/2014/main" id="{184954F6-2C88-45D6-3E13-60FE9F32A8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76F6A700-C2A2-822E-505C-0A663BD75C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D2B6FE-F3D4-45E7-A59D-2636C327EC2B}" type="slidenum">
              <a:rPr lang="en-IN" smtClean="0"/>
              <a:pPr/>
              <a:t>‹#›</a:t>
            </a:fld>
            <a:endParaRPr lang="en-IN"/>
          </a:p>
        </p:txBody>
      </p:sp>
    </p:spTree>
    <p:extLst>
      <p:ext uri="{BB962C8B-B14F-4D97-AF65-F5344CB8AC3E}">
        <p14:creationId xmlns:p14="http://schemas.microsoft.com/office/powerpoint/2010/main" val="1513965526"/>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6FE0ED-EEA7-429A-AA6D-BF10371DBF59}" type="slidenum">
              <a:rPr lang="en-IN" smtClean="0"/>
              <a:pPr/>
              <a:t>‹#›</a:t>
            </a:fld>
            <a:endParaRPr lang="en-IN"/>
          </a:p>
        </p:txBody>
      </p:sp>
    </p:spTree>
    <p:extLst>
      <p:ext uri="{BB962C8B-B14F-4D97-AF65-F5344CB8AC3E}">
        <p14:creationId xmlns:p14="http://schemas.microsoft.com/office/powerpoint/2010/main" val="1440040988"/>
      </p:ext>
    </p:extLst>
  </p:cSld>
  <p:clrMap bg1="lt1" tx1="dk1" bg2="lt2" tx2="dk2" accent1="accent1" accent2="accent2" accent3="accent3" accent4="accent4" accent5="accent5" accent6="accent6" hlink="hlink" folHlink="folHlink"/>
  <p:hf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endParaRPr lang="en-IN"/>
          </a:p>
        </p:txBody>
      </p:sp>
    </p:spTree>
    <p:extLst>
      <p:ext uri="{BB962C8B-B14F-4D97-AF65-F5344CB8AC3E}">
        <p14:creationId xmlns:p14="http://schemas.microsoft.com/office/powerpoint/2010/main" val="4024893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E98B7-3867-8689-C9E7-73AD7DC775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BD489-D71D-88E6-1E64-6C867B2A37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3A796-0E16-15BF-3463-28EB052CE30D}"/>
              </a:ext>
            </a:extLst>
          </p:cNvPr>
          <p:cNvSpPr>
            <a:spLocks noGrp="1"/>
          </p:cNvSpPr>
          <p:nvPr>
            <p:ph type="body" idx="1"/>
          </p:nvPr>
        </p:nvSpPr>
        <p:spPr/>
        <p:txBody>
          <a:bodyPr/>
          <a:lstStyle/>
          <a:p>
            <a:endParaRPr lang="en-IN" dirty="0"/>
          </a:p>
        </p:txBody>
      </p:sp>
      <p:sp>
        <p:nvSpPr>
          <p:cNvPr id="4" name="Date Placeholder 3">
            <a:extLst>
              <a:ext uri="{FF2B5EF4-FFF2-40B4-BE49-F238E27FC236}">
                <a16:creationId xmlns:a16="http://schemas.microsoft.com/office/drawing/2014/main" id="{2256A21F-C785-C3BA-8BE3-1FB619D09CB2}"/>
              </a:ext>
            </a:extLst>
          </p:cNvPr>
          <p:cNvSpPr>
            <a:spLocks noGrp="1"/>
          </p:cNvSpPr>
          <p:nvPr>
            <p:ph type="dt" idx="1"/>
          </p:nvPr>
        </p:nvSpPr>
        <p:spPr/>
        <p:txBody>
          <a:bodyPr/>
          <a:lstStyle/>
          <a:p>
            <a:endParaRPr lang="en-IN"/>
          </a:p>
        </p:txBody>
      </p:sp>
    </p:spTree>
    <p:extLst>
      <p:ext uri="{BB962C8B-B14F-4D97-AF65-F5344CB8AC3E}">
        <p14:creationId xmlns:p14="http://schemas.microsoft.com/office/powerpoint/2010/main" val="37029932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endParaRPr lang="en-IN"/>
          </a:p>
        </p:txBody>
      </p:sp>
    </p:spTree>
    <p:extLst>
      <p:ext uri="{BB962C8B-B14F-4D97-AF65-F5344CB8AC3E}">
        <p14:creationId xmlns:p14="http://schemas.microsoft.com/office/powerpoint/2010/main" val="2433829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F401528-9B91-4E1D-B780-4756D7A5B230}" type="datetimeFigureOut">
              <a:rPr lang="en-IN" smtClean="0"/>
              <a:pPr/>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3869235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401528-9B91-4E1D-B780-4756D7A5B230}" type="datetimeFigureOut">
              <a:rPr lang="en-IN" smtClean="0"/>
              <a:pPr/>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1061034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401528-9B91-4E1D-B780-4756D7A5B230}" type="datetimeFigureOut">
              <a:rPr lang="en-IN" smtClean="0"/>
              <a:pPr/>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912573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F401528-9B91-4E1D-B780-4756D7A5B230}" type="datetimeFigureOut">
              <a:rPr lang="en-IN" smtClean="0"/>
              <a:pPr/>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3257776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F401528-9B91-4E1D-B780-4756D7A5B230}" type="datetimeFigureOut">
              <a:rPr lang="en-IN" smtClean="0"/>
              <a:pPr/>
              <a:t>12-12-2025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1330841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F401528-9B91-4E1D-B780-4756D7A5B230}" type="datetimeFigureOut">
              <a:rPr lang="en-IN" smtClean="0"/>
              <a:pPr/>
              <a:t>12-12-2025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2971632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401528-9B91-4E1D-B780-4756D7A5B230}" type="datetimeFigureOut">
              <a:rPr lang="en-IN" smtClean="0"/>
              <a:pPr/>
              <a:t>12-12-2025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673134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01528-9B91-4E1D-B780-4756D7A5B230}" type="datetimeFigureOut">
              <a:rPr lang="en-IN" smtClean="0"/>
              <a:pPr/>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458086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01528-9B91-4E1D-B780-4756D7A5B230}" type="datetimeFigureOut">
              <a:rPr lang="en-IN" smtClean="0"/>
              <a:pPr/>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4091416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401528-9B91-4E1D-B780-4756D7A5B230}" type="datetimeFigureOut">
              <a:rPr lang="en-IN" smtClean="0"/>
              <a:pPr/>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2196424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401528-9B91-4E1D-B780-4756D7A5B230}" type="datetimeFigureOut">
              <a:rPr lang="en-IN" smtClean="0"/>
              <a:pPr/>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1662210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401528-9B91-4E1D-B780-4756D7A5B230}" type="datetimeFigureOut">
              <a:rPr lang="en-IN" smtClean="0"/>
              <a:pPr/>
              <a:t>12-12-2025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F04DAD-6FC7-491D-82CC-E8CDA596BFB0}" type="slidenum">
              <a:rPr lang="en-IN" smtClean="0"/>
              <a:pPr/>
              <a:t>‹#›</a:t>
            </a:fld>
            <a:endParaRPr lang="en-IN"/>
          </a:p>
        </p:txBody>
      </p:sp>
    </p:spTree>
    <p:extLst>
      <p:ext uri="{BB962C8B-B14F-4D97-AF65-F5344CB8AC3E}">
        <p14:creationId xmlns:p14="http://schemas.microsoft.com/office/powerpoint/2010/main" val="2500213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2.png"/><Relationship Id="rId7"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7.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18715" y="1696728"/>
            <a:ext cx="5743272" cy="461665"/>
          </a:xfrm>
          <a:prstGeom prst="rect">
            <a:avLst/>
          </a:prstGeom>
        </p:spPr>
        <p:txBody>
          <a:bodyPr wrap="square">
            <a:spAutoFit/>
          </a:bodyPr>
          <a:lstStyle/>
          <a:p>
            <a:r>
              <a:rPr lang="en-US" sz="2400" b="1" dirty="0">
                <a:solidFill>
                  <a:srgbClr val="FF0000"/>
                </a:solidFill>
                <a:latin typeface="Times New Roman" panose="02020603050405020304" pitchFamily="18" charset="0"/>
                <a:cs typeface="Times New Roman" panose="02020603050405020304" pitchFamily="18" charset="0"/>
              </a:rPr>
              <a:t>       </a:t>
            </a:r>
          </a:p>
        </p:txBody>
      </p:sp>
      <p:sp>
        <p:nvSpPr>
          <p:cNvPr id="3" name="Rectangle 2"/>
          <p:cNvSpPr/>
          <p:nvPr/>
        </p:nvSpPr>
        <p:spPr>
          <a:xfrm>
            <a:off x="0" y="1268361"/>
            <a:ext cx="12192000" cy="400110"/>
          </a:xfrm>
          <a:prstGeom prst="rect">
            <a:avLst/>
          </a:prstGeom>
        </p:spPr>
        <p:txBody>
          <a:bodyPr wrap="square">
            <a:spAutoFit/>
          </a:bodyPr>
          <a:lstStyle/>
          <a:p>
            <a:pPr algn="ctr"/>
            <a:r>
              <a:rPr lang="en-US" sz="2000" b="1" dirty="0">
                <a:latin typeface="Times New Roman" panose="02020603050405020304" pitchFamily="18" charset="0"/>
                <a:cs typeface="Times New Roman" panose="02020603050405020304" pitchFamily="18" charset="0"/>
              </a:rPr>
              <a:t>DEPARTMENT OF ELECTRICAL AND ELECTRONICS ENGINEERING</a:t>
            </a:r>
            <a:endParaRPr lang="en-US" sz="2000" b="1" dirty="0"/>
          </a:p>
        </p:txBody>
      </p:sp>
      <p:sp>
        <p:nvSpPr>
          <p:cNvPr id="7" name="Rectangle 6"/>
          <p:cNvSpPr/>
          <p:nvPr/>
        </p:nvSpPr>
        <p:spPr>
          <a:xfrm>
            <a:off x="0" y="2768374"/>
            <a:ext cx="12191999" cy="584775"/>
          </a:xfrm>
          <a:prstGeom prst="rect">
            <a:avLst/>
          </a:prstGeom>
        </p:spPr>
        <p:txBody>
          <a:bodyPr wrap="square">
            <a:spAutoFit/>
          </a:bodyPr>
          <a:lstStyle/>
          <a:p>
            <a:pPr algn="ctr"/>
            <a:r>
              <a:rPr lang="en-IN" sz="3200" b="1" dirty="0"/>
              <a:t>SMART BUS STOP</a:t>
            </a:r>
          </a:p>
        </p:txBody>
      </p:sp>
      <p:sp>
        <p:nvSpPr>
          <p:cNvPr id="9" name="Rectangle 8"/>
          <p:cNvSpPr/>
          <p:nvPr/>
        </p:nvSpPr>
        <p:spPr>
          <a:xfrm>
            <a:off x="437208" y="5292778"/>
            <a:ext cx="3576319" cy="1508105"/>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GUIDED BY:</a:t>
            </a:r>
          </a:p>
          <a:p>
            <a:r>
              <a:rPr lang="en-US"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Dr.S.Banumathi</a:t>
            </a:r>
            <a:r>
              <a:rPr lang="en-US" sz="1800" b="1" dirty="0">
                <a:latin typeface="Times New Roman" panose="02020603050405020304" pitchFamily="18" charset="0"/>
                <a:cs typeface="Times New Roman" panose="02020603050405020304" pitchFamily="18" charset="0"/>
              </a:rPr>
              <a:t>,  M.E., </a:t>
            </a:r>
            <a:r>
              <a:rPr lang="en-US" sz="1800" b="1" dirty="0" err="1">
                <a:latin typeface="Times New Roman" panose="02020603050405020304" pitchFamily="18" charset="0"/>
                <a:cs typeface="Times New Roman" panose="02020603050405020304" pitchFamily="18" charset="0"/>
              </a:rPr>
              <a:t>Ph.D</a:t>
            </a:r>
            <a:r>
              <a:rPr lang="en-US" sz="1800" b="1"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	Professor /EEE</a:t>
            </a:r>
            <a:endParaRPr lang="en-US" b="1" dirty="0"/>
          </a:p>
          <a:p>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Mr.N.Selvam</a:t>
            </a:r>
            <a:r>
              <a:rPr lang="en-US" sz="1800" b="1" dirty="0">
                <a:latin typeface="Times New Roman" panose="02020603050405020304" pitchFamily="18" charset="0"/>
                <a:cs typeface="Times New Roman" panose="02020603050405020304" pitchFamily="18" charset="0"/>
              </a:rPr>
              <a:t>, M.E., AP/EEE </a:t>
            </a:r>
          </a:p>
          <a:p>
            <a:r>
              <a:rPr lang="en-US" b="1" dirty="0">
                <a:latin typeface="Times New Roman" panose="02020603050405020304" pitchFamily="18" charset="0"/>
                <a:cs typeface="Times New Roman" panose="02020603050405020304" pitchFamily="18" charset="0"/>
              </a:rPr>
              <a:t>	</a:t>
            </a:r>
            <a:endParaRPr lang="en-US" b="1" dirty="0"/>
          </a:p>
        </p:txBody>
      </p:sp>
      <p:sp>
        <p:nvSpPr>
          <p:cNvPr id="10" name="Rectangle 9"/>
          <p:cNvSpPr/>
          <p:nvPr/>
        </p:nvSpPr>
        <p:spPr>
          <a:xfrm>
            <a:off x="6771523" y="3833917"/>
            <a:ext cx="5006866" cy="2062103"/>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PRESENTED BY:</a:t>
            </a:r>
          </a:p>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DEEPAK S  (927624BEE014)</a:t>
            </a:r>
          </a:p>
          <a:p>
            <a:r>
              <a:rPr lang="en-IN" dirty="0">
                <a:latin typeface="Times New Roman" panose="02020603050405020304" pitchFamily="18" charset="0"/>
                <a:cs typeface="Times New Roman" panose="02020603050405020304" pitchFamily="18" charset="0"/>
              </a:rPr>
              <a:t>BHARATHKUMAR M </a:t>
            </a:r>
            <a:r>
              <a:rPr lang="en-US" dirty="0">
                <a:latin typeface="Times New Roman" panose="02020603050405020304" pitchFamily="18" charset="0"/>
                <a:cs typeface="Times New Roman" panose="02020603050405020304" pitchFamily="18" charset="0"/>
              </a:rPr>
              <a:t>(927622BEE013)</a:t>
            </a:r>
          </a:p>
          <a:p>
            <a:r>
              <a:rPr lang="en-US" dirty="0">
                <a:latin typeface="Times New Roman" panose="02020603050405020304" pitchFamily="18" charset="0"/>
                <a:cs typeface="Times New Roman" panose="02020603050405020304" pitchFamily="18" charset="0"/>
              </a:rPr>
              <a:t>BHARATH G (927622BEE012)</a:t>
            </a:r>
          </a:p>
          <a:p>
            <a:r>
              <a:rPr lang="en-IN" dirty="0">
                <a:latin typeface="Times New Roman" panose="02020603050405020304" pitchFamily="18" charset="0"/>
                <a:cs typeface="Times New Roman" panose="02020603050405020304" pitchFamily="18" charset="0"/>
              </a:rPr>
              <a:t>DHANIKESH S (927624BEE017)</a:t>
            </a:r>
          </a:p>
          <a:p>
            <a:r>
              <a:rPr lang="en-IN" dirty="0">
                <a:latin typeface="Times New Roman" panose="02020603050405020304" pitchFamily="18" charset="0"/>
                <a:cs typeface="Times New Roman" panose="02020603050405020304" pitchFamily="18" charset="0"/>
              </a:rPr>
              <a:t>DEEPAN S (927624BEE015)</a:t>
            </a:r>
            <a:endParaRPr lang="en-US"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12" name="Picture 11">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6" name="Picture 5"/>
          <p:cNvPicPr>
            <a:picLocks noChangeAspect="1"/>
          </p:cNvPicPr>
          <p:nvPr/>
        </p:nvPicPr>
        <p:blipFill>
          <a:blip r:embed="rId4" cstate="print"/>
          <a:stretch>
            <a:fillRect/>
          </a:stretch>
        </p:blipFill>
        <p:spPr>
          <a:xfrm>
            <a:off x="5928852" y="269154"/>
            <a:ext cx="979948" cy="736822"/>
          </a:xfrm>
          <a:prstGeom prst="rect">
            <a:avLst/>
          </a:prstGeom>
        </p:spPr>
      </p:pic>
      <p:sp>
        <p:nvSpPr>
          <p:cNvPr id="15" name="TextBox 14">
            <a:extLst>
              <a:ext uri="{FF2B5EF4-FFF2-40B4-BE49-F238E27FC236}">
                <a16:creationId xmlns:a16="http://schemas.microsoft.com/office/drawing/2014/main" id="{D25CA271-96D2-C244-4886-240251C1D582}"/>
              </a:ext>
            </a:extLst>
          </p:cNvPr>
          <p:cNvSpPr txBox="1"/>
          <p:nvPr/>
        </p:nvSpPr>
        <p:spPr>
          <a:xfrm>
            <a:off x="0" y="1731985"/>
            <a:ext cx="12192000" cy="400110"/>
          </a:xfrm>
          <a:prstGeom prst="rect">
            <a:avLst/>
          </a:prstGeom>
          <a:noFill/>
        </p:spPr>
        <p:txBody>
          <a:bodyPr wrap="square">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EEB1204 - ELECTRON DEVICES AND CIRCUITS</a:t>
            </a:r>
          </a:p>
        </p:txBody>
      </p:sp>
      <p:sp>
        <p:nvSpPr>
          <p:cNvPr id="17" name="TextBox 16">
            <a:extLst>
              <a:ext uri="{FF2B5EF4-FFF2-40B4-BE49-F238E27FC236}">
                <a16:creationId xmlns:a16="http://schemas.microsoft.com/office/drawing/2014/main" id="{84E93011-3454-46D6-8AA0-ACDF067DE3B1}"/>
              </a:ext>
            </a:extLst>
          </p:cNvPr>
          <p:cNvSpPr txBox="1"/>
          <p:nvPr/>
        </p:nvSpPr>
        <p:spPr>
          <a:xfrm>
            <a:off x="143714" y="3886098"/>
            <a:ext cx="3290693" cy="1200329"/>
          </a:xfrm>
          <a:prstGeom prst="rect">
            <a:avLst/>
          </a:prstGeom>
          <a:noFill/>
        </p:spPr>
        <p:txBody>
          <a:bodyPr wrap="square">
            <a:spAutoFit/>
          </a:bodyPr>
          <a:lstStyle/>
          <a:p>
            <a:pPr>
              <a:lnSpc>
                <a:spcPct val="150000"/>
              </a:lnSpc>
            </a:pPr>
            <a:r>
              <a:rPr lang="en-US" sz="1600" b="1" dirty="0">
                <a:solidFill>
                  <a:srgbClr val="7030A0"/>
                </a:solidFill>
                <a:latin typeface="Times New Roman" panose="02020603050405020304" pitchFamily="18" charset="0"/>
                <a:cs typeface="Times New Roman" panose="02020603050405020304" pitchFamily="18" charset="0"/>
              </a:rPr>
              <a:t>YEAR/ SEMESTER – II/III</a:t>
            </a:r>
          </a:p>
          <a:p>
            <a:pPr>
              <a:lnSpc>
                <a:spcPct val="150000"/>
              </a:lnSpc>
            </a:pPr>
            <a:r>
              <a:rPr lang="en-US" sz="1600" b="1" dirty="0">
                <a:solidFill>
                  <a:srgbClr val="7030A0"/>
                </a:solidFill>
                <a:latin typeface="Times New Roman" panose="02020603050405020304" pitchFamily="18" charset="0"/>
                <a:cs typeface="Times New Roman" panose="02020603050405020304" pitchFamily="18" charset="0"/>
              </a:rPr>
              <a:t>BATCH NUMBER : 6</a:t>
            </a:r>
          </a:p>
          <a:p>
            <a:pPr>
              <a:lnSpc>
                <a:spcPct val="150000"/>
              </a:lnSpc>
            </a:pPr>
            <a:r>
              <a:rPr lang="en-US" sz="1600" b="1">
                <a:solidFill>
                  <a:srgbClr val="7030A0"/>
                </a:solidFill>
                <a:latin typeface="Times New Roman" panose="02020603050405020304" pitchFamily="18" charset="0"/>
                <a:cs typeface="Times New Roman" panose="02020603050405020304" pitchFamily="18" charset="0"/>
              </a:rPr>
              <a:t>DATE :13-12-2025</a:t>
            </a:r>
            <a:endParaRPr lang="en-US" sz="1600" b="1" dirty="0">
              <a:solidFill>
                <a:srgbClr val="7030A0"/>
              </a:solidFill>
            </a:endParaRPr>
          </a:p>
        </p:txBody>
      </p:sp>
      <p:sp>
        <p:nvSpPr>
          <p:cNvPr id="20" name="TextBox 19">
            <a:extLst>
              <a:ext uri="{FF2B5EF4-FFF2-40B4-BE49-F238E27FC236}">
                <a16:creationId xmlns:a16="http://schemas.microsoft.com/office/drawing/2014/main" id="{0BEDF041-0DED-A3E5-7109-BD6C6104408D}"/>
              </a:ext>
            </a:extLst>
          </p:cNvPr>
          <p:cNvSpPr txBox="1"/>
          <p:nvPr/>
        </p:nvSpPr>
        <p:spPr>
          <a:xfrm>
            <a:off x="0" y="2243531"/>
            <a:ext cx="12192000" cy="369332"/>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 FINAL  REVIEW</a:t>
            </a:r>
            <a:endParaRPr lang="en-US" sz="1800" b="1" dirty="0"/>
          </a:p>
        </p:txBody>
      </p:sp>
    </p:spTree>
    <p:extLst>
      <p:ext uri="{BB962C8B-B14F-4D97-AF65-F5344CB8AC3E}">
        <p14:creationId xmlns:p14="http://schemas.microsoft.com/office/powerpoint/2010/main" val="2643783544"/>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68710" y="1937618"/>
            <a:ext cx="11390671" cy="3586366"/>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 A smart bus stop is a technology-enabled transportation hub designed to provide passengers with safety, convenience, and real-time information. traditional bus stops lack basic facilities such as reliable timetables, lighting, and security, which creates inefficiencies and safety concerns. to address these issues, the proposed smart bus stop incorporates solar power, real-time bus tracking, digital display systems, emergency alert modules, mobile charging facilities, and </a:t>
            </a:r>
            <a:r>
              <a:rPr lang="en-US" dirty="0" err="1">
                <a:latin typeface="Times New Roman" panose="02020603050405020304" pitchFamily="18" charset="0"/>
                <a:cs typeface="Times New Roman" panose="02020603050405020304" pitchFamily="18" charset="0"/>
              </a:rPr>
              <a:t>cctv</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surveillance.The</a:t>
            </a:r>
            <a:r>
              <a:rPr lang="en-US" dirty="0">
                <a:latin typeface="Times New Roman" panose="02020603050405020304" pitchFamily="18" charset="0"/>
                <a:cs typeface="Times New Roman" panose="02020603050405020304" pitchFamily="18" charset="0"/>
              </a:rPr>
              <a:t> use of solar panels ensures sustainable operation even in rural or remote areas, while the </a:t>
            </a:r>
            <a:r>
              <a:rPr lang="en-US" dirty="0" err="1">
                <a:latin typeface="Times New Roman" panose="02020603050405020304" pitchFamily="18" charset="0"/>
                <a:cs typeface="Times New Roman" panose="02020603050405020304" pitchFamily="18" charset="0"/>
              </a:rPr>
              <a:t>gps</a:t>
            </a:r>
            <a:r>
              <a:rPr lang="en-US" dirty="0">
                <a:latin typeface="Times New Roman" panose="02020603050405020304" pitchFamily="18" charset="0"/>
                <a:cs typeface="Times New Roman" panose="02020603050405020304" pitchFamily="18" charset="0"/>
              </a:rPr>
              <a:t>-based real-time tracking system provides accurate bus arrival information to passengers. an emergency alert button enhances security by sending notifications to nearby authorities in case of danger. additional features such as </a:t>
            </a:r>
            <a:r>
              <a:rPr lang="en-US" dirty="0" err="1">
                <a:latin typeface="Times New Roman" panose="02020603050405020304" pitchFamily="18" charset="0"/>
                <a:cs typeface="Times New Roman" panose="02020603050405020304" pitchFamily="18" charset="0"/>
              </a:rPr>
              <a:t>usb</a:t>
            </a:r>
            <a:r>
              <a:rPr lang="en-US" dirty="0">
                <a:latin typeface="Times New Roman" panose="02020603050405020304" pitchFamily="18" charset="0"/>
                <a:cs typeface="Times New Roman" panose="02020603050405020304" pitchFamily="18" charset="0"/>
              </a:rPr>
              <a:t> charging ports, free wi-fi, and voice-assisted announcements improve the overall user experience and ensure accessibility for different categories of </a:t>
            </a:r>
            <a:r>
              <a:rPr lang="en-US" dirty="0" err="1">
                <a:latin typeface="Times New Roman" panose="02020603050405020304" pitchFamily="18" charset="0"/>
                <a:cs typeface="Times New Roman" panose="02020603050405020304" pitchFamily="18" charset="0"/>
              </a:rPr>
              <a:t>passengers.This</a:t>
            </a:r>
            <a:r>
              <a:rPr lang="en-US" dirty="0">
                <a:latin typeface="Times New Roman" panose="02020603050405020304" pitchFamily="18" charset="0"/>
                <a:cs typeface="Times New Roman" panose="02020603050405020304" pitchFamily="18" charset="0"/>
              </a:rPr>
              <a:t> smart bus stop model promotes green energy utilization, passenger safety, and digital connectivity, making it suitable for both urban smart city projects and rural public transport development. the project aims to transform conventional bus stops into intelligent, sustainable, and user-friendly mobility hubs.</a:t>
            </a:r>
          </a:p>
          <a:p>
            <a:pPr marL="342900" indent="-342900" algn="just">
              <a:lnSpc>
                <a:spcPct val="150000"/>
              </a:lnSpc>
              <a:buFont typeface="Wingdings" panose="05000000000000000000" pitchFamily="2" charset="2"/>
              <a:buChar char="Ø"/>
            </a:pPr>
            <a:endParaRPr lang="en-IN" sz="22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4B6D8522-EF70-75ED-8771-474E9267D0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ABSTRACT</a:t>
            </a: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spTree>
    <p:extLst>
      <p:ext uri="{BB962C8B-B14F-4D97-AF65-F5344CB8AC3E}">
        <p14:creationId xmlns:p14="http://schemas.microsoft.com/office/powerpoint/2010/main" val="119831058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F5E24-9F30-7C08-E935-08AD4BE978F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031EFD6-86AF-CD8F-A0DB-349A76833DF2}"/>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INTRODUCTION</a:t>
            </a:r>
          </a:p>
        </p:txBody>
      </p:sp>
      <p:pic>
        <p:nvPicPr>
          <p:cNvPr id="8" name="Picture 7">
            <a:extLst>
              <a:ext uri="{FF2B5EF4-FFF2-40B4-BE49-F238E27FC236}">
                <a16:creationId xmlns:a16="http://schemas.microsoft.com/office/drawing/2014/main" id="{F69E15AB-FEB8-1C07-0C03-1ACCA60DE005}"/>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90D5D358-2893-3D29-E173-EA6EA3749F9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a:extLst>
              <a:ext uri="{FF2B5EF4-FFF2-40B4-BE49-F238E27FC236}">
                <a16:creationId xmlns:a16="http://schemas.microsoft.com/office/drawing/2014/main" id="{3CF21A4A-8744-5739-86DC-367AC65970A1}"/>
              </a:ext>
            </a:extLst>
          </p:cNvPr>
          <p:cNvPicPr>
            <a:picLocks noChangeAspect="1"/>
          </p:cNvPicPr>
          <p:nvPr/>
        </p:nvPicPr>
        <p:blipFill>
          <a:blip r:embed="rId4" cstate="print"/>
          <a:stretch>
            <a:fillRect/>
          </a:stretch>
        </p:blipFill>
        <p:spPr>
          <a:xfrm>
            <a:off x="5928852" y="269154"/>
            <a:ext cx="979948" cy="736822"/>
          </a:xfrm>
          <a:prstGeom prst="rect">
            <a:avLst/>
          </a:prstGeom>
        </p:spPr>
      </p:pic>
      <p:sp>
        <p:nvSpPr>
          <p:cNvPr id="2" name="TextBox 1">
            <a:extLst>
              <a:ext uri="{FF2B5EF4-FFF2-40B4-BE49-F238E27FC236}">
                <a16:creationId xmlns:a16="http://schemas.microsoft.com/office/drawing/2014/main" id="{8F11ADD2-8759-1FE9-09EE-76DEC713C98F}"/>
              </a:ext>
            </a:extLst>
          </p:cNvPr>
          <p:cNvSpPr txBox="1"/>
          <p:nvPr/>
        </p:nvSpPr>
        <p:spPr>
          <a:xfrm>
            <a:off x="235983" y="1937617"/>
            <a:ext cx="11631552" cy="3077766"/>
          </a:xfrm>
          <a:prstGeom prst="rect">
            <a:avLst/>
          </a:prstGeom>
          <a:noFill/>
        </p:spPr>
        <p:txBody>
          <a:bodyPr wrap="square" rtlCol="0">
            <a:spAutoFit/>
          </a:bodyPr>
          <a:lstStyle/>
          <a:p>
            <a:endParaRPr lang="en-US" sz="1600" dirty="0"/>
          </a:p>
          <a:p>
            <a:endParaRPr lang="en-US" sz="1600" dirty="0"/>
          </a:p>
          <a:p>
            <a:pPr algn="just"/>
            <a:r>
              <a:rPr lang="en-US" dirty="0"/>
              <a:t>                                                                         </a:t>
            </a:r>
            <a:r>
              <a:rPr lang="en-US" dirty="0">
                <a:latin typeface="Times New Roman" panose="02020603050405020304" pitchFamily="18" charset="0"/>
                <a:cs typeface="Times New Roman" panose="02020603050405020304" pitchFamily="18" charset="0"/>
              </a:rPr>
              <a:t>In rural and semi-urban areas, proper lighting is essential for ensuring safety, security, and usability of public spaces such as bus stops, streets, and community centers. however, conventional lighting systems consume significant energy and require manual operation, often leading to wastage of electricity or inadequate illumination at night. To overcome these challenges, an automatic night lighting system is proposed. the system uses a light dependent resistor (</a:t>
            </a:r>
            <a:r>
              <a:rPr lang="en-US" dirty="0" err="1">
                <a:latin typeface="Times New Roman" panose="02020603050405020304" pitchFamily="18" charset="0"/>
                <a:cs typeface="Times New Roman" panose="02020603050405020304" pitchFamily="18" charset="0"/>
              </a:rPr>
              <a:t>ldr</a:t>
            </a:r>
            <a:r>
              <a:rPr lang="en-US" dirty="0">
                <a:latin typeface="Times New Roman" panose="02020603050405020304" pitchFamily="18" charset="0"/>
                <a:cs typeface="Times New Roman" panose="02020603050405020304" pitchFamily="18" charset="0"/>
              </a:rPr>
              <a:t>) as a sensor to detect ambient light levels. when natural light decreases below a certain threshold (nighttime or cloudy weather), the system automatically switches on the lamp. during the daytime, when sufficient sunlight is available, the system switches off the lamp to conserve energy. This project can be implemented using an </a:t>
            </a:r>
            <a:r>
              <a:rPr lang="en-US" dirty="0" err="1">
                <a:latin typeface="Times New Roman" panose="02020603050405020304" pitchFamily="18" charset="0"/>
                <a:cs typeface="Times New Roman" panose="02020603050405020304" pitchFamily="18" charset="0"/>
              </a:rPr>
              <a:t>arduino</a:t>
            </a:r>
            <a:r>
              <a:rPr lang="en-US" dirty="0">
                <a:latin typeface="Times New Roman" panose="02020603050405020304" pitchFamily="18" charset="0"/>
                <a:cs typeface="Times New Roman" panose="02020603050405020304" pitchFamily="18" charset="0"/>
              </a:rPr>
              <a:t> microcontroller, </a:t>
            </a:r>
            <a:r>
              <a:rPr lang="en-US" dirty="0" err="1">
                <a:latin typeface="Times New Roman" panose="02020603050405020304" pitchFamily="18" charset="0"/>
                <a:cs typeface="Times New Roman" panose="02020603050405020304" pitchFamily="18" charset="0"/>
              </a:rPr>
              <a:t>ldr</a:t>
            </a:r>
            <a:r>
              <a:rPr lang="en-US" dirty="0">
                <a:latin typeface="Times New Roman" panose="02020603050405020304" pitchFamily="18" charset="0"/>
                <a:cs typeface="Times New Roman" panose="02020603050405020304" pitchFamily="18" charset="0"/>
              </a:rPr>
              <a:t> sensor, relay, and lamp, ensuring a low-cost, energy-efficient, and reliable lighting solution for rural bus stops, streets, and public areas.</a:t>
            </a:r>
          </a:p>
        </p:txBody>
      </p:sp>
    </p:spTree>
    <p:extLst>
      <p:ext uri="{BB962C8B-B14F-4D97-AF65-F5344CB8AC3E}">
        <p14:creationId xmlns:p14="http://schemas.microsoft.com/office/powerpoint/2010/main" val="2745617288"/>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0EF97-916A-8423-A2C3-0170558A538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89275D2-9F06-D4F8-1229-B3C630C34724}"/>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PROBLEM STATEMENTS</a:t>
            </a:r>
          </a:p>
        </p:txBody>
      </p:sp>
      <p:pic>
        <p:nvPicPr>
          <p:cNvPr id="8" name="Picture 7">
            <a:extLst>
              <a:ext uri="{FF2B5EF4-FFF2-40B4-BE49-F238E27FC236}">
                <a16:creationId xmlns:a16="http://schemas.microsoft.com/office/drawing/2014/main" id="{234977E7-C53C-B23F-059D-CAB62E996F93}"/>
              </a:ext>
            </a:extLst>
          </p:cNvPr>
          <p:cNvPicPr>
            <a:picLocks noChangeAspect="1"/>
          </p:cNvPicPr>
          <p:nvPr/>
        </p:nvPicPr>
        <p:blipFill>
          <a:blip r:embed="rId3"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12FD65DF-2718-5F47-B671-B5C94FA7D737}"/>
              </a:ext>
            </a:extLst>
          </p:cNvPr>
          <p:cNvPicPr>
            <a:picLocks noChangeAspect="1"/>
          </p:cNvPicPr>
          <p:nvPr/>
        </p:nvPicPr>
        <p:blipFill rotWithShape="1">
          <a:blip r:embed="rId4"/>
          <a:srcRect l="17820" r="18861"/>
          <a:stretch/>
        </p:blipFill>
        <p:spPr>
          <a:xfrm>
            <a:off x="11282517" y="191728"/>
            <a:ext cx="680332" cy="635895"/>
          </a:xfrm>
          <a:prstGeom prst="rect">
            <a:avLst/>
          </a:prstGeom>
        </p:spPr>
      </p:pic>
      <p:pic>
        <p:nvPicPr>
          <p:cNvPr id="10" name="Picture 9">
            <a:extLst>
              <a:ext uri="{FF2B5EF4-FFF2-40B4-BE49-F238E27FC236}">
                <a16:creationId xmlns:a16="http://schemas.microsoft.com/office/drawing/2014/main" id="{D63D7E93-C2B0-CA9D-12AE-73D5072D8BFA}"/>
              </a:ext>
            </a:extLst>
          </p:cNvPr>
          <p:cNvPicPr>
            <a:picLocks noChangeAspect="1"/>
          </p:cNvPicPr>
          <p:nvPr/>
        </p:nvPicPr>
        <p:blipFill>
          <a:blip r:embed="rId5" cstate="print"/>
          <a:stretch>
            <a:fillRect/>
          </a:stretch>
        </p:blipFill>
        <p:spPr>
          <a:xfrm>
            <a:off x="5928852" y="269154"/>
            <a:ext cx="979948" cy="736822"/>
          </a:xfrm>
          <a:prstGeom prst="rect">
            <a:avLst/>
          </a:prstGeom>
        </p:spPr>
      </p:pic>
      <p:sp>
        <p:nvSpPr>
          <p:cNvPr id="4" name="TextBox 3">
            <a:extLst>
              <a:ext uri="{FF2B5EF4-FFF2-40B4-BE49-F238E27FC236}">
                <a16:creationId xmlns:a16="http://schemas.microsoft.com/office/drawing/2014/main" id="{D326686E-CA58-436C-3B45-30F8736D1605}"/>
              </a:ext>
            </a:extLst>
          </p:cNvPr>
          <p:cNvSpPr txBox="1"/>
          <p:nvPr/>
        </p:nvSpPr>
        <p:spPr>
          <a:xfrm>
            <a:off x="511285" y="2389238"/>
            <a:ext cx="11277591" cy="2800767"/>
          </a:xfrm>
          <a:prstGeom prst="rect">
            <a:avLst/>
          </a:prstGeom>
          <a:noFill/>
        </p:spPr>
        <p:txBody>
          <a:bodyPr wrap="square" rtlCol="0">
            <a:spAutoFit/>
          </a:bodyPr>
          <a:lstStyle/>
          <a:p>
            <a:endParaRPr lang="en-IN"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1. </a:t>
            </a:r>
            <a:r>
              <a:rPr lang="en-IN" sz="2000" dirty="0">
                <a:latin typeface="Times New Roman" panose="02020603050405020304" pitchFamily="18" charset="0"/>
                <a:cs typeface="Times New Roman" panose="02020603050405020304" pitchFamily="18" charset="0"/>
              </a:rPr>
              <a:t>Lack of night lighting.</a:t>
            </a:r>
          </a:p>
          <a:p>
            <a:r>
              <a:rPr lang="en-IN" sz="2000" b="1"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 Safety risks for women, children.</a:t>
            </a:r>
          </a:p>
          <a:p>
            <a:r>
              <a:rPr lang="en-IN" sz="2000" b="1" dirty="0">
                <a:latin typeface="Times New Roman" panose="02020603050405020304" pitchFamily="18" charset="0"/>
                <a:cs typeface="Times New Roman" panose="02020603050405020304" pitchFamily="18" charset="0"/>
              </a:rPr>
              <a:t>3. </a:t>
            </a:r>
            <a:r>
              <a:rPr lang="en-IN" sz="2000" dirty="0">
                <a:latin typeface="Times New Roman" panose="02020603050405020304" pitchFamily="18" charset="0"/>
                <a:cs typeface="Times New Roman" panose="02020603050405020304" pitchFamily="18" charset="0"/>
              </a:rPr>
              <a:t>No digital or smart infrastructure.</a:t>
            </a:r>
          </a:p>
          <a:p>
            <a:r>
              <a:rPr lang="en-IN" sz="2000" b="1" dirty="0">
                <a:latin typeface="Times New Roman" panose="02020603050405020304" pitchFamily="18" charset="0"/>
                <a:cs typeface="Times New Roman" panose="02020603050405020304" pitchFamily="18" charset="0"/>
              </a:rPr>
              <a:t>4.</a:t>
            </a:r>
            <a:r>
              <a:rPr lang="en-IN" sz="2000" dirty="0">
                <a:latin typeface="Times New Roman" panose="02020603050405020304" pitchFamily="18" charset="0"/>
                <a:cs typeface="Times New Roman" panose="02020603050405020304" pitchFamily="18" charset="0"/>
              </a:rPr>
              <a:t> No passenger feedback and absence of real-time passenger data.</a:t>
            </a:r>
          </a:p>
          <a:p>
            <a:r>
              <a:rPr lang="en-IN" sz="2000" b="1" dirty="0">
                <a:latin typeface="Times New Roman" panose="02020603050405020304" pitchFamily="18" charset="0"/>
                <a:cs typeface="Times New Roman" panose="02020603050405020304" pitchFamily="18" charset="0"/>
              </a:rPr>
              <a:t>5. </a:t>
            </a:r>
            <a:r>
              <a:rPr lang="en-IN" sz="2000" dirty="0">
                <a:latin typeface="Times New Roman" panose="02020603050405020304" pitchFamily="18" charset="0"/>
                <a:cs typeface="Times New Roman" panose="02020603050405020304" pitchFamily="18" charset="0"/>
              </a:rPr>
              <a:t>Energy wastage from grid- powered</a:t>
            </a:r>
            <a:r>
              <a:rPr lang="en-IN" sz="2000" b="1"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6. </a:t>
            </a:r>
            <a:r>
              <a:rPr lang="en-IN" sz="2000" dirty="0">
                <a:latin typeface="Times New Roman" panose="02020603050405020304" pitchFamily="18" charset="0"/>
                <a:cs typeface="Times New Roman" panose="02020603050405020304" pitchFamily="18" charset="0"/>
              </a:rPr>
              <a:t>Absence of timetable or bus availability information.</a:t>
            </a:r>
          </a:p>
          <a:p>
            <a:r>
              <a:rPr lang="en-IN" sz="2000" b="1" dirty="0">
                <a:latin typeface="Times New Roman" panose="02020603050405020304" pitchFamily="18" charset="0"/>
                <a:cs typeface="Times New Roman" panose="02020603050405020304" pitchFamily="18" charset="0"/>
              </a:rPr>
              <a:t>7.</a:t>
            </a:r>
            <a:r>
              <a:rPr lang="en-IN" sz="2000" dirty="0">
                <a:latin typeface="Times New Roman" panose="02020603050405020304" pitchFamily="18" charset="0"/>
                <a:cs typeface="Times New Roman" panose="02020603050405020304" pitchFamily="18" charset="0"/>
              </a:rPr>
              <a:t> Lack of cleanliness and waste management.</a:t>
            </a:r>
          </a:p>
          <a:p>
            <a:r>
              <a:rPr lang="en-IN"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196932"/>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77D0B-D96E-C594-FDD8-762A4C2F227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F8DE684-6121-37A1-605B-E0D1EB1AAB75}"/>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CORE FEATURES</a:t>
            </a:r>
          </a:p>
        </p:txBody>
      </p:sp>
      <p:pic>
        <p:nvPicPr>
          <p:cNvPr id="8" name="Picture 7">
            <a:extLst>
              <a:ext uri="{FF2B5EF4-FFF2-40B4-BE49-F238E27FC236}">
                <a16:creationId xmlns:a16="http://schemas.microsoft.com/office/drawing/2014/main" id="{3FEB1E6F-74AA-680C-45C9-366D1C0D3A56}"/>
              </a:ext>
            </a:extLst>
          </p:cNvPr>
          <p:cNvPicPr>
            <a:picLocks noChangeAspect="1"/>
          </p:cNvPicPr>
          <p:nvPr/>
        </p:nvPicPr>
        <p:blipFill>
          <a:blip r:embed="rId3"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9BA870DA-3B70-9B68-542C-D2A270C47382}"/>
              </a:ext>
            </a:extLst>
          </p:cNvPr>
          <p:cNvPicPr>
            <a:picLocks noChangeAspect="1"/>
          </p:cNvPicPr>
          <p:nvPr/>
        </p:nvPicPr>
        <p:blipFill rotWithShape="1">
          <a:blip r:embed="rId4"/>
          <a:srcRect l="17820" r="18861"/>
          <a:stretch/>
        </p:blipFill>
        <p:spPr>
          <a:xfrm>
            <a:off x="11282517" y="191728"/>
            <a:ext cx="680332" cy="635895"/>
          </a:xfrm>
          <a:prstGeom prst="rect">
            <a:avLst/>
          </a:prstGeom>
        </p:spPr>
      </p:pic>
      <p:pic>
        <p:nvPicPr>
          <p:cNvPr id="10" name="Picture 9">
            <a:extLst>
              <a:ext uri="{FF2B5EF4-FFF2-40B4-BE49-F238E27FC236}">
                <a16:creationId xmlns:a16="http://schemas.microsoft.com/office/drawing/2014/main" id="{64EE78D4-DFAB-FE07-D88E-28601D198664}"/>
              </a:ext>
            </a:extLst>
          </p:cNvPr>
          <p:cNvPicPr>
            <a:picLocks noChangeAspect="1"/>
          </p:cNvPicPr>
          <p:nvPr/>
        </p:nvPicPr>
        <p:blipFill>
          <a:blip r:embed="rId5" cstate="print"/>
          <a:stretch>
            <a:fillRect/>
          </a:stretch>
        </p:blipFill>
        <p:spPr>
          <a:xfrm>
            <a:off x="5928852" y="269154"/>
            <a:ext cx="979948" cy="736822"/>
          </a:xfrm>
          <a:prstGeom prst="rect">
            <a:avLst/>
          </a:prstGeom>
        </p:spPr>
      </p:pic>
      <p:sp>
        <p:nvSpPr>
          <p:cNvPr id="4" name="TextBox 3">
            <a:extLst>
              <a:ext uri="{FF2B5EF4-FFF2-40B4-BE49-F238E27FC236}">
                <a16:creationId xmlns:a16="http://schemas.microsoft.com/office/drawing/2014/main" id="{A169055E-B9D3-B455-5639-83360C4CF29E}"/>
              </a:ext>
            </a:extLst>
          </p:cNvPr>
          <p:cNvSpPr txBox="1"/>
          <p:nvPr/>
        </p:nvSpPr>
        <p:spPr>
          <a:xfrm>
            <a:off x="780030" y="2615380"/>
            <a:ext cx="11277591" cy="3416320"/>
          </a:xfrm>
          <a:prstGeom prst="rect">
            <a:avLst/>
          </a:prstGeom>
          <a:noFill/>
        </p:spPr>
        <p:txBody>
          <a:bodyPr wrap="square" rtlCol="0">
            <a:spAutoFit/>
          </a:bodyPr>
          <a:lstStyle/>
          <a:p>
            <a:pPr marL="342900" indent="-342900">
              <a:buFont typeface="+mj-lt"/>
              <a:buAutoNum type="arabicPeriod"/>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Real-time bus tracking</a:t>
            </a:r>
            <a:r>
              <a:rPr lang="en-IN"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LED/LCD display showing live bus arrival times.</a:t>
            </a:r>
            <a:r>
              <a:rPr lang="en-IN"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GPS-integrated system with vehicles.</a:t>
            </a:r>
          </a:p>
          <a:p>
            <a:pPr marL="342900" indent="-342900">
              <a:buFont typeface="+mj-lt"/>
              <a:buAutoNum type="arabicPeriod"/>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Solar power system.</a:t>
            </a:r>
          </a:p>
          <a:p>
            <a:pPr marL="342900" indent="-342900">
              <a:buFont typeface="+mj-lt"/>
              <a:buAutoNum type="arabicPeriod"/>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USB mobile charging ports.</a:t>
            </a:r>
          </a:p>
          <a:p>
            <a:pPr marL="342900" indent="-342900">
              <a:buFont typeface="+mj-lt"/>
              <a:buAutoNum type="arabicPeriod"/>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Emergency or unusual activity detection system</a:t>
            </a:r>
            <a:r>
              <a:rPr lang="en-IN" b="1"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Automatic night lighting.</a:t>
            </a:r>
          </a:p>
          <a:p>
            <a:pPr marL="342900" indent="-342900">
              <a:buFont typeface="+mj-lt"/>
              <a:buAutoNum type="arabicPeriod"/>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Destination display for drivers.</a:t>
            </a: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 GSM communication</a:t>
            </a:r>
            <a:r>
              <a:rPr lang="en-IN" b="1"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 Integrating card-based ticket.</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1733537"/>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1C135-C591-3945-3E4F-34B7572A3FA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30A239C-7839-6721-FD90-E3899E82ABE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CIRCUIT DIAGRAM</a:t>
            </a:r>
          </a:p>
        </p:txBody>
      </p:sp>
      <p:pic>
        <p:nvPicPr>
          <p:cNvPr id="8" name="Picture 7">
            <a:extLst>
              <a:ext uri="{FF2B5EF4-FFF2-40B4-BE49-F238E27FC236}">
                <a16:creationId xmlns:a16="http://schemas.microsoft.com/office/drawing/2014/main" id="{02349673-B4EB-0CBC-D99A-537E63C863B8}"/>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DC194C23-C63E-0C30-3B56-658E8BE85CF0}"/>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a:extLst>
              <a:ext uri="{FF2B5EF4-FFF2-40B4-BE49-F238E27FC236}">
                <a16:creationId xmlns:a16="http://schemas.microsoft.com/office/drawing/2014/main" id="{2BD2BE66-241F-0D75-6D0B-B30EBB520218}"/>
              </a:ext>
            </a:extLst>
          </p:cNvPr>
          <p:cNvPicPr>
            <a:picLocks noChangeAspect="1"/>
          </p:cNvPicPr>
          <p:nvPr/>
        </p:nvPicPr>
        <p:blipFill>
          <a:blip r:embed="rId4" cstate="print"/>
          <a:stretch>
            <a:fillRect/>
          </a:stretch>
        </p:blipFill>
        <p:spPr>
          <a:xfrm>
            <a:off x="5928852" y="269154"/>
            <a:ext cx="979948" cy="736822"/>
          </a:xfrm>
          <a:prstGeom prst="rect">
            <a:avLst/>
          </a:prstGeom>
        </p:spPr>
      </p:pic>
      <p:pic>
        <p:nvPicPr>
          <p:cNvPr id="4" name="Picture 3">
            <a:extLst>
              <a:ext uri="{FF2B5EF4-FFF2-40B4-BE49-F238E27FC236}">
                <a16:creationId xmlns:a16="http://schemas.microsoft.com/office/drawing/2014/main" id="{00289DBC-8A49-9FB4-EEBF-F80EC80A68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05587" y="2444049"/>
            <a:ext cx="7826478" cy="3681447"/>
          </a:xfrm>
          <a:prstGeom prst="rect">
            <a:avLst/>
          </a:prstGeom>
        </p:spPr>
      </p:pic>
      <p:sp>
        <p:nvSpPr>
          <p:cNvPr id="2" name="TextBox 1">
            <a:extLst>
              <a:ext uri="{FF2B5EF4-FFF2-40B4-BE49-F238E27FC236}">
                <a16:creationId xmlns:a16="http://schemas.microsoft.com/office/drawing/2014/main" id="{2445B2C0-68CC-CA33-5E59-3BBB3DF6C50B}"/>
              </a:ext>
            </a:extLst>
          </p:cNvPr>
          <p:cNvSpPr txBox="1"/>
          <p:nvPr/>
        </p:nvSpPr>
        <p:spPr>
          <a:xfrm>
            <a:off x="2505587" y="2245624"/>
            <a:ext cx="2462444" cy="584775"/>
          </a:xfrm>
          <a:prstGeom prst="rect">
            <a:avLst/>
          </a:prstGeom>
          <a:noFill/>
        </p:spPr>
        <p:txBody>
          <a:bodyPr wrap="square" rtlCol="0">
            <a:spAutoFit/>
          </a:bodyPr>
          <a:lstStyle/>
          <a:p>
            <a:r>
              <a:rPr lang="en-US" sz="1600" b="1" dirty="0"/>
              <a:t>ULTRASONIC SENSOR</a:t>
            </a:r>
          </a:p>
          <a:p>
            <a:endParaRPr lang="en-IN" sz="1600" b="1" dirty="0"/>
          </a:p>
        </p:txBody>
      </p:sp>
    </p:spTree>
    <p:extLst>
      <p:ext uri="{BB962C8B-B14F-4D97-AF65-F5344CB8AC3E}">
        <p14:creationId xmlns:p14="http://schemas.microsoft.com/office/powerpoint/2010/main" val="79174444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6D8522-EF70-75ED-8771-474E9267D0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COMPONENTS USED</a:t>
            </a:r>
            <a:endParaRPr lang="en-US" sz="20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sp>
        <p:nvSpPr>
          <p:cNvPr id="12" name="TextBox 11">
            <a:extLst>
              <a:ext uri="{FF2B5EF4-FFF2-40B4-BE49-F238E27FC236}">
                <a16:creationId xmlns:a16="http://schemas.microsoft.com/office/drawing/2014/main" id="{5E65D4C6-177B-5ACB-EF74-7EB4CA6041D5}"/>
              </a:ext>
            </a:extLst>
          </p:cNvPr>
          <p:cNvSpPr txBox="1"/>
          <p:nvPr/>
        </p:nvSpPr>
        <p:spPr>
          <a:xfrm>
            <a:off x="580104" y="2245624"/>
            <a:ext cx="1936954" cy="923330"/>
          </a:xfrm>
          <a:prstGeom prst="rect">
            <a:avLst/>
          </a:prstGeom>
          <a:noFill/>
        </p:spPr>
        <p:txBody>
          <a:bodyPr wrap="square" rtlCol="0">
            <a:spAutoFit/>
          </a:bodyPr>
          <a:lstStyle/>
          <a:p>
            <a:r>
              <a:rPr lang="en-IN" b="1" dirty="0"/>
              <a:t>COMPONANTS:</a:t>
            </a:r>
            <a:endParaRPr lang="en-IN" dirty="0"/>
          </a:p>
          <a:p>
            <a:r>
              <a:rPr lang="en-IN" b="1" dirty="0"/>
              <a:t>1.</a:t>
            </a:r>
            <a:r>
              <a:rPr lang="en-IN" dirty="0"/>
              <a:t>SOLAR PANEL</a:t>
            </a:r>
            <a:r>
              <a:rPr lang="en-IN" b="1" dirty="0"/>
              <a:t>:</a:t>
            </a:r>
          </a:p>
          <a:p>
            <a:r>
              <a:rPr lang="en-IN" b="1" dirty="0"/>
              <a:t> </a:t>
            </a:r>
            <a:endParaRPr lang="en-IN" dirty="0"/>
          </a:p>
        </p:txBody>
      </p:sp>
      <p:pic>
        <p:nvPicPr>
          <p:cNvPr id="19" name="Picture 18">
            <a:extLst>
              <a:ext uri="{FF2B5EF4-FFF2-40B4-BE49-F238E27FC236}">
                <a16:creationId xmlns:a16="http://schemas.microsoft.com/office/drawing/2014/main" id="{B49ACFF5-CDD9-B391-D9C9-EDE1309411B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39921" y="3019023"/>
            <a:ext cx="1417320" cy="1219200"/>
          </a:xfrm>
          <a:prstGeom prst="rect">
            <a:avLst/>
          </a:prstGeom>
          <a:noFill/>
          <a:ln>
            <a:noFill/>
          </a:ln>
        </p:spPr>
      </p:pic>
      <p:sp>
        <p:nvSpPr>
          <p:cNvPr id="20" name="TextBox 19">
            <a:extLst>
              <a:ext uri="{FF2B5EF4-FFF2-40B4-BE49-F238E27FC236}">
                <a16:creationId xmlns:a16="http://schemas.microsoft.com/office/drawing/2014/main" id="{180DDAAD-553E-315B-A06D-4C1799DA85C8}"/>
              </a:ext>
            </a:extLst>
          </p:cNvPr>
          <p:cNvSpPr txBox="1"/>
          <p:nvPr/>
        </p:nvSpPr>
        <p:spPr>
          <a:xfrm>
            <a:off x="6361470" y="2448232"/>
            <a:ext cx="4041059" cy="369332"/>
          </a:xfrm>
          <a:prstGeom prst="rect">
            <a:avLst/>
          </a:prstGeom>
          <a:noFill/>
        </p:spPr>
        <p:txBody>
          <a:bodyPr wrap="square" rtlCol="0">
            <a:spAutoFit/>
          </a:bodyPr>
          <a:lstStyle/>
          <a:p>
            <a:r>
              <a:rPr lang="en-IN" b="1" dirty="0"/>
              <a:t> 3.  </a:t>
            </a:r>
            <a:r>
              <a:rPr lang="en-IN" dirty="0"/>
              <a:t>VOLTAGE CONTROLLER: </a:t>
            </a:r>
          </a:p>
        </p:txBody>
      </p:sp>
      <p:pic>
        <p:nvPicPr>
          <p:cNvPr id="22" name="Picture 21">
            <a:extLst>
              <a:ext uri="{FF2B5EF4-FFF2-40B4-BE49-F238E27FC236}">
                <a16:creationId xmlns:a16="http://schemas.microsoft.com/office/drawing/2014/main" id="{E5606348-A0F3-318B-9046-3A2B81D4E52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414259" y="2851290"/>
            <a:ext cx="1935480" cy="1211580"/>
          </a:xfrm>
          <a:prstGeom prst="rect">
            <a:avLst/>
          </a:prstGeom>
          <a:noFill/>
          <a:ln>
            <a:noFill/>
          </a:ln>
        </p:spPr>
      </p:pic>
      <p:sp>
        <p:nvSpPr>
          <p:cNvPr id="23" name="TextBox 22">
            <a:extLst>
              <a:ext uri="{FF2B5EF4-FFF2-40B4-BE49-F238E27FC236}">
                <a16:creationId xmlns:a16="http://schemas.microsoft.com/office/drawing/2014/main" id="{D9BFE91D-2024-8042-A58F-8F28106E309F}"/>
              </a:ext>
            </a:extLst>
          </p:cNvPr>
          <p:cNvSpPr txBox="1"/>
          <p:nvPr/>
        </p:nvSpPr>
        <p:spPr>
          <a:xfrm>
            <a:off x="580104" y="4611329"/>
            <a:ext cx="2552302" cy="369332"/>
          </a:xfrm>
          <a:prstGeom prst="rect">
            <a:avLst/>
          </a:prstGeom>
          <a:noFill/>
        </p:spPr>
        <p:txBody>
          <a:bodyPr wrap="none" rtlCol="0">
            <a:spAutoFit/>
          </a:bodyPr>
          <a:lstStyle/>
          <a:p>
            <a:r>
              <a:rPr lang="en-IN" b="1"/>
              <a:t>2</a:t>
            </a:r>
            <a:r>
              <a:rPr lang="en-IN"/>
              <a:t>. CHARGE CONTROLLER:</a:t>
            </a:r>
            <a:endParaRPr lang="en-IN" dirty="0"/>
          </a:p>
        </p:txBody>
      </p:sp>
      <p:pic>
        <p:nvPicPr>
          <p:cNvPr id="25" name="Picture 24">
            <a:extLst>
              <a:ext uri="{FF2B5EF4-FFF2-40B4-BE49-F238E27FC236}">
                <a16:creationId xmlns:a16="http://schemas.microsoft.com/office/drawing/2014/main" id="{0D4DBE1D-9D17-729E-4B21-DDF60C1B5418}"/>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71960" y="5161935"/>
            <a:ext cx="1744980" cy="1371600"/>
          </a:xfrm>
          <a:prstGeom prst="rect">
            <a:avLst/>
          </a:prstGeom>
          <a:noFill/>
          <a:ln>
            <a:noFill/>
          </a:ln>
        </p:spPr>
      </p:pic>
      <p:sp>
        <p:nvSpPr>
          <p:cNvPr id="26" name="TextBox 25">
            <a:extLst>
              <a:ext uri="{FF2B5EF4-FFF2-40B4-BE49-F238E27FC236}">
                <a16:creationId xmlns:a16="http://schemas.microsoft.com/office/drawing/2014/main" id="{AF69F482-1A81-9B11-C58A-57EA7B22DD61}"/>
              </a:ext>
            </a:extLst>
          </p:cNvPr>
          <p:cNvSpPr txBox="1"/>
          <p:nvPr/>
        </p:nvSpPr>
        <p:spPr>
          <a:xfrm flipH="1">
            <a:off x="6705598" y="4611329"/>
            <a:ext cx="2890685" cy="369332"/>
          </a:xfrm>
          <a:prstGeom prst="rect">
            <a:avLst/>
          </a:prstGeom>
          <a:noFill/>
        </p:spPr>
        <p:txBody>
          <a:bodyPr wrap="square" rtlCol="0">
            <a:spAutoFit/>
          </a:bodyPr>
          <a:lstStyle/>
          <a:p>
            <a:r>
              <a:rPr lang="en-IN" dirty="0"/>
              <a:t> </a:t>
            </a:r>
            <a:r>
              <a:rPr lang="en-IN" b="1" dirty="0"/>
              <a:t>4. </a:t>
            </a:r>
            <a:r>
              <a:rPr lang="en-IN" dirty="0"/>
              <a:t>GSM MODULE:</a:t>
            </a:r>
          </a:p>
        </p:txBody>
      </p:sp>
      <p:pic>
        <p:nvPicPr>
          <p:cNvPr id="28" name="Picture 27">
            <a:extLst>
              <a:ext uri="{FF2B5EF4-FFF2-40B4-BE49-F238E27FC236}">
                <a16:creationId xmlns:a16="http://schemas.microsoft.com/office/drawing/2014/main" id="{490DDEFA-2D75-EE77-F1F2-D567A102E2E3}"/>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114620" y="5107432"/>
            <a:ext cx="2072640" cy="1264920"/>
          </a:xfrm>
          <a:prstGeom prst="rect">
            <a:avLst/>
          </a:prstGeom>
          <a:noFill/>
          <a:ln>
            <a:noFill/>
          </a:ln>
        </p:spPr>
      </p:pic>
    </p:spTree>
    <p:extLst>
      <p:ext uri="{BB962C8B-B14F-4D97-AF65-F5344CB8AC3E}">
        <p14:creationId xmlns:p14="http://schemas.microsoft.com/office/powerpoint/2010/main" val="119831058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down)">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down)">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circle(in)">
                                      <p:cBhvr>
                                        <p:cTn id="22"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1AFB5C-B795-CAB5-17F0-1C9522007C13}"/>
              </a:ext>
            </a:extLst>
          </p:cNvPr>
          <p:cNvPicPr>
            <a:picLocks noChangeAspect="1"/>
          </p:cNvPicPr>
          <p:nvPr/>
        </p:nvPicPr>
        <p:blipFill>
          <a:blip r:embed="rId2" cstate="print"/>
          <a:srcRect t="20925" b="14217"/>
          <a:stretch>
            <a:fillRect/>
          </a:stretch>
        </p:blipFill>
        <p:spPr>
          <a:xfrm>
            <a:off x="127004" y="98812"/>
            <a:ext cx="2816934" cy="958645"/>
          </a:xfrm>
          <a:prstGeom prst="rect">
            <a:avLst/>
          </a:prstGeom>
        </p:spPr>
      </p:pic>
      <p:pic>
        <p:nvPicPr>
          <p:cNvPr id="6" name="Picture 5">
            <a:extLst>
              <a:ext uri="{FF2B5EF4-FFF2-40B4-BE49-F238E27FC236}">
                <a16:creationId xmlns:a16="http://schemas.microsoft.com/office/drawing/2014/main" id="{3D6BA0D9-8C72-F372-8452-8CDD1F7B7594}"/>
              </a:ext>
            </a:extLst>
          </p:cNvPr>
          <p:cNvPicPr>
            <a:picLocks noChangeAspect="1"/>
          </p:cNvPicPr>
          <p:nvPr/>
        </p:nvPicPr>
        <p:blipFill>
          <a:blip r:embed="rId3" cstate="print"/>
          <a:stretch>
            <a:fillRect/>
          </a:stretch>
        </p:blipFill>
        <p:spPr>
          <a:xfrm>
            <a:off x="5919020" y="287895"/>
            <a:ext cx="979948" cy="736822"/>
          </a:xfrm>
          <a:prstGeom prst="rect">
            <a:avLst/>
          </a:prstGeom>
        </p:spPr>
      </p:pic>
      <p:pic>
        <p:nvPicPr>
          <p:cNvPr id="8" name="Picture 7">
            <a:extLst>
              <a:ext uri="{FF2B5EF4-FFF2-40B4-BE49-F238E27FC236}">
                <a16:creationId xmlns:a16="http://schemas.microsoft.com/office/drawing/2014/main" id="{F011217B-3577-2B51-33C9-C70985B77F3B}"/>
              </a:ext>
            </a:extLst>
          </p:cNvPr>
          <p:cNvPicPr>
            <a:picLocks noChangeAspect="1"/>
          </p:cNvPicPr>
          <p:nvPr/>
        </p:nvPicPr>
        <p:blipFill rotWithShape="1">
          <a:blip r:embed="rId4"/>
          <a:srcRect l="17820" r="18861"/>
          <a:stretch/>
        </p:blipFill>
        <p:spPr>
          <a:xfrm>
            <a:off x="11282517" y="191728"/>
            <a:ext cx="680332" cy="635895"/>
          </a:xfrm>
          <a:prstGeom prst="rect">
            <a:avLst/>
          </a:prstGeom>
        </p:spPr>
      </p:pic>
      <p:sp>
        <p:nvSpPr>
          <p:cNvPr id="10" name="Rectangle 9">
            <a:extLst>
              <a:ext uri="{FF2B5EF4-FFF2-40B4-BE49-F238E27FC236}">
                <a16:creationId xmlns:a16="http://schemas.microsoft.com/office/drawing/2014/main" id="{47691D06-6BDA-B63A-28FE-3237A1813E42}"/>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COMPONENTS USED</a:t>
            </a:r>
            <a:endParaRPr lang="en-US" sz="2000" b="1"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BBCB84B3-7789-CE53-19CE-6CF9D38B851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68022" y="2885276"/>
            <a:ext cx="2141220" cy="1402080"/>
          </a:xfrm>
          <a:prstGeom prst="rect">
            <a:avLst/>
          </a:prstGeom>
          <a:noFill/>
          <a:ln>
            <a:noFill/>
          </a:ln>
        </p:spPr>
      </p:pic>
      <p:sp>
        <p:nvSpPr>
          <p:cNvPr id="15" name="TextBox 14">
            <a:extLst>
              <a:ext uri="{FF2B5EF4-FFF2-40B4-BE49-F238E27FC236}">
                <a16:creationId xmlns:a16="http://schemas.microsoft.com/office/drawing/2014/main" id="{7D984B22-1527-3A54-C0F4-51D7674689D0}"/>
              </a:ext>
            </a:extLst>
          </p:cNvPr>
          <p:cNvSpPr txBox="1"/>
          <p:nvPr/>
        </p:nvSpPr>
        <p:spPr>
          <a:xfrm>
            <a:off x="462116" y="2349909"/>
            <a:ext cx="3082190" cy="369332"/>
          </a:xfrm>
          <a:prstGeom prst="rect">
            <a:avLst/>
          </a:prstGeom>
          <a:noFill/>
        </p:spPr>
        <p:txBody>
          <a:bodyPr wrap="none" rtlCol="0">
            <a:spAutoFit/>
          </a:bodyPr>
          <a:lstStyle/>
          <a:p>
            <a:r>
              <a:rPr lang="en-IN" b="1" dirty="0"/>
              <a:t>5. </a:t>
            </a:r>
            <a:r>
              <a:rPr lang="en-IN" dirty="0"/>
              <a:t>EMERGENCY PUSH BUTTON:</a:t>
            </a:r>
          </a:p>
        </p:txBody>
      </p:sp>
      <p:sp>
        <p:nvSpPr>
          <p:cNvPr id="16" name="TextBox 15">
            <a:extLst>
              <a:ext uri="{FF2B5EF4-FFF2-40B4-BE49-F238E27FC236}">
                <a16:creationId xmlns:a16="http://schemas.microsoft.com/office/drawing/2014/main" id="{5191F2B9-9F8E-E5F4-DC0E-0546FCB2B710}"/>
              </a:ext>
            </a:extLst>
          </p:cNvPr>
          <p:cNvSpPr txBox="1"/>
          <p:nvPr/>
        </p:nvSpPr>
        <p:spPr>
          <a:xfrm>
            <a:off x="7836309" y="2349909"/>
            <a:ext cx="1324978" cy="369332"/>
          </a:xfrm>
          <a:prstGeom prst="rect">
            <a:avLst/>
          </a:prstGeom>
          <a:noFill/>
        </p:spPr>
        <p:txBody>
          <a:bodyPr wrap="none" rtlCol="0">
            <a:spAutoFit/>
          </a:bodyPr>
          <a:lstStyle/>
          <a:p>
            <a:r>
              <a:rPr lang="en-IN" b="1" dirty="0"/>
              <a:t>6.</a:t>
            </a:r>
            <a:r>
              <a:rPr lang="en-IN" dirty="0"/>
              <a:t> BATTERY: </a:t>
            </a:r>
          </a:p>
        </p:txBody>
      </p:sp>
      <p:pic>
        <p:nvPicPr>
          <p:cNvPr id="18" name="Picture 17">
            <a:extLst>
              <a:ext uri="{FF2B5EF4-FFF2-40B4-BE49-F238E27FC236}">
                <a16:creationId xmlns:a16="http://schemas.microsoft.com/office/drawing/2014/main" id="{344215B1-6031-0309-A47E-37D9A03CB46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647696" y="2719241"/>
            <a:ext cx="1737360" cy="1485900"/>
          </a:xfrm>
          <a:prstGeom prst="rect">
            <a:avLst/>
          </a:prstGeom>
          <a:noFill/>
          <a:ln>
            <a:noFill/>
          </a:ln>
        </p:spPr>
      </p:pic>
      <p:sp>
        <p:nvSpPr>
          <p:cNvPr id="19" name="TextBox 18">
            <a:extLst>
              <a:ext uri="{FF2B5EF4-FFF2-40B4-BE49-F238E27FC236}">
                <a16:creationId xmlns:a16="http://schemas.microsoft.com/office/drawing/2014/main" id="{55860425-07FB-16F9-7B9E-547BB0ADB911}"/>
              </a:ext>
            </a:extLst>
          </p:cNvPr>
          <p:cNvSpPr txBox="1"/>
          <p:nvPr/>
        </p:nvSpPr>
        <p:spPr>
          <a:xfrm>
            <a:off x="4080388" y="4287356"/>
            <a:ext cx="3282546" cy="369332"/>
          </a:xfrm>
          <a:prstGeom prst="rect">
            <a:avLst/>
          </a:prstGeom>
          <a:noFill/>
        </p:spPr>
        <p:txBody>
          <a:bodyPr wrap="square" rtlCol="0">
            <a:spAutoFit/>
          </a:bodyPr>
          <a:lstStyle/>
          <a:p>
            <a:r>
              <a:rPr lang="en-IN" b="1" dirty="0"/>
              <a:t>7. </a:t>
            </a:r>
            <a:r>
              <a:rPr lang="en-IN" dirty="0"/>
              <a:t>MICROCONTROLLER: </a:t>
            </a:r>
          </a:p>
        </p:txBody>
      </p:sp>
      <p:pic>
        <p:nvPicPr>
          <p:cNvPr id="21" name="Picture 20">
            <a:extLst>
              <a:ext uri="{FF2B5EF4-FFF2-40B4-BE49-F238E27FC236}">
                <a16:creationId xmlns:a16="http://schemas.microsoft.com/office/drawing/2014/main" id="{B85E1716-0F7E-975A-023F-612E3BEB7C47}"/>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38809" y="5072046"/>
            <a:ext cx="2049780" cy="1508760"/>
          </a:xfrm>
          <a:prstGeom prst="rect">
            <a:avLst/>
          </a:prstGeom>
          <a:noFill/>
          <a:ln>
            <a:noFill/>
          </a:ln>
        </p:spPr>
      </p:pic>
    </p:spTree>
    <p:extLst>
      <p:ext uri="{BB962C8B-B14F-4D97-AF65-F5344CB8AC3E}">
        <p14:creationId xmlns:p14="http://schemas.microsoft.com/office/powerpoint/2010/main" val="3662894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heel(1)">
                                      <p:cBhvr>
                                        <p:cTn id="12" dur="20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circle(in)">
                                      <p:cBhvr>
                                        <p:cTn id="1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345C6-0584-25F6-E371-5479FDFD8B7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1FD0A6A-63A1-25E4-E579-8F745021A52E}"/>
              </a:ext>
            </a:extLst>
          </p:cNvPr>
          <p:cNvPicPr>
            <a:picLocks noChangeAspect="1"/>
          </p:cNvPicPr>
          <p:nvPr/>
        </p:nvPicPr>
        <p:blipFill>
          <a:blip r:embed="rId2" cstate="print"/>
          <a:srcRect t="20925" b="14217"/>
          <a:stretch>
            <a:fillRect/>
          </a:stretch>
        </p:blipFill>
        <p:spPr>
          <a:xfrm>
            <a:off x="127004" y="98812"/>
            <a:ext cx="2816934" cy="958645"/>
          </a:xfrm>
          <a:prstGeom prst="rect">
            <a:avLst/>
          </a:prstGeom>
        </p:spPr>
      </p:pic>
      <p:pic>
        <p:nvPicPr>
          <p:cNvPr id="6" name="Picture 5">
            <a:extLst>
              <a:ext uri="{FF2B5EF4-FFF2-40B4-BE49-F238E27FC236}">
                <a16:creationId xmlns:a16="http://schemas.microsoft.com/office/drawing/2014/main" id="{8915A243-54E3-54AA-483E-E2E32C701087}"/>
              </a:ext>
            </a:extLst>
          </p:cNvPr>
          <p:cNvPicPr>
            <a:picLocks noChangeAspect="1"/>
          </p:cNvPicPr>
          <p:nvPr/>
        </p:nvPicPr>
        <p:blipFill>
          <a:blip r:embed="rId3" cstate="print"/>
          <a:stretch>
            <a:fillRect/>
          </a:stretch>
        </p:blipFill>
        <p:spPr>
          <a:xfrm>
            <a:off x="5919020" y="287895"/>
            <a:ext cx="979948" cy="736822"/>
          </a:xfrm>
          <a:prstGeom prst="rect">
            <a:avLst/>
          </a:prstGeom>
        </p:spPr>
      </p:pic>
      <p:pic>
        <p:nvPicPr>
          <p:cNvPr id="8" name="Picture 7">
            <a:extLst>
              <a:ext uri="{FF2B5EF4-FFF2-40B4-BE49-F238E27FC236}">
                <a16:creationId xmlns:a16="http://schemas.microsoft.com/office/drawing/2014/main" id="{31BBCF8C-4FA7-C71C-F34C-4DC144A02A77}"/>
              </a:ext>
            </a:extLst>
          </p:cNvPr>
          <p:cNvPicPr>
            <a:picLocks noChangeAspect="1"/>
          </p:cNvPicPr>
          <p:nvPr/>
        </p:nvPicPr>
        <p:blipFill rotWithShape="1">
          <a:blip r:embed="rId4"/>
          <a:srcRect l="17820" r="18861"/>
          <a:stretch/>
        </p:blipFill>
        <p:spPr>
          <a:xfrm>
            <a:off x="11282517" y="191728"/>
            <a:ext cx="680332" cy="635895"/>
          </a:xfrm>
          <a:prstGeom prst="rect">
            <a:avLst/>
          </a:prstGeom>
        </p:spPr>
      </p:pic>
      <p:sp>
        <p:nvSpPr>
          <p:cNvPr id="10" name="Rectangle 9">
            <a:extLst>
              <a:ext uri="{FF2B5EF4-FFF2-40B4-BE49-F238E27FC236}">
                <a16:creationId xmlns:a16="http://schemas.microsoft.com/office/drawing/2014/main" id="{E6221EFB-081A-DC9A-DEB4-052DA6C22B97}"/>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COMPONENTS USED</a:t>
            </a:r>
            <a:endParaRPr lang="en-US" sz="20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5B70181-460D-6A65-F434-E34FD5FD7614}"/>
              </a:ext>
            </a:extLst>
          </p:cNvPr>
          <p:cNvSpPr txBox="1"/>
          <p:nvPr/>
        </p:nvSpPr>
        <p:spPr>
          <a:xfrm>
            <a:off x="462116" y="2526890"/>
            <a:ext cx="3323303" cy="369332"/>
          </a:xfrm>
          <a:prstGeom prst="rect">
            <a:avLst/>
          </a:prstGeom>
          <a:noFill/>
        </p:spPr>
        <p:txBody>
          <a:bodyPr wrap="square" rtlCol="0">
            <a:spAutoFit/>
          </a:bodyPr>
          <a:lstStyle/>
          <a:p>
            <a:r>
              <a:rPr lang="en-IN" b="1"/>
              <a:t>9. </a:t>
            </a:r>
            <a:r>
              <a:rPr lang="en-IN"/>
              <a:t>16x2 LED OR OLED DISPLAY:</a:t>
            </a:r>
            <a:endParaRPr lang="en-IN" dirty="0"/>
          </a:p>
        </p:txBody>
      </p:sp>
      <p:pic>
        <p:nvPicPr>
          <p:cNvPr id="5" name="Picture 4">
            <a:extLst>
              <a:ext uri="{FF2B5EF4-FFF2-40B4-BE49-F238E27FC236}">
                <a16:creationId xmlns:a16="http://schemas.microsoft.com/office/drawing/2014/main" id="{E6332A49-CD0B-82AD-8C1A-E6E342F76D2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02718" y="2896222"/>
            <a:ext cx="2141220" cy="1600200"/>
          </a:xfrm>
          <a:prstGeom prst="rect">
            <a:avLst/>
          </a:prstGeom>
          <a:noFill/>
          <a:ln>
            <a:noFill/>
          </a:ln>
        </p:spPr>
      </p:pic>
      <p:sp>
        <p:nvSpPr>
          <p:cNvPr id="7" name="TextBox 6">
            <a:extLst>
              <a:ext uri="{FF2B5EF4-FFF2-40B4-BE49-F238E27FC236}">
                <a16:creationId xmlns:a16="http://schemas.microsoft.com/office/drawing/2014/main" id="{F1A34C03-A72A-C593-BE52-A9016C2F9E86}"/>
              </a:ext>
            </a:extLst>
          </p:cNvPr>
          <p:cNvSpPr txBox="1"/>
          <p:nvPr/>
        </p:nvSpPr>
        <p:spPr>
          <a:xfrm>
            <a:off x="7334864" y="2526890"/>
            <a:ext cx="3022855" cy="369332"/>
          </a:xfrm>
          <a:prstGeom prst="rect">
            <a:avLst/>
          </a:prstGeom>
          <a:noFill/>
        </p:spPr>
        <p:txBody>
          <a:bodyPr wrap="square" rtlCol="0">
            <a:spAutoFit/>
          </a:bodyPr>
          <a:lstStyle/>
          <a:p>
            <a:r>
              <a:rPr lang="en-IN" b="1" dirty="0"/>
              <a:t>10. </a:t>
            </a:r>
            <a:r>
              <a:rPr lang="en-IN" dirty="0"/>
              <a:t>USB Port Module :</a:t>
            </a:r>
          </a:p>
        </p:txBody>
      </p:sp>
      <p:pic>
        <p:nvPicPr>
          <p:cNvPr id="11" name="Picture 10">
            <a:extLst>
              <a:ext uri="{FF2B5EF4-FFF2-40B4-BE49-F238E27FC236}">
                <a16:creationId xmlns:a16="http://schemas.microsoft.com/office/drawing/2014/main" id="{813CC579-5452-FB13-FA7F-5399AA20CD0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351930" y="2896222"/>
            <a:ext cx="2423160" cy="1744980"/>
          </a:xfrm>
          <a:prstGeom prst="rect">
            <a:avLst/>
          </a:prstGeom>
          <a:noFill/>
          <a:ln>
            <a:noFill/>
          </a:ln>
        </p:spPr>
      </p:pic>
      <p:sp>
        <p:nvSpPr>
          <p:cNvPr id="12" name="TextBox 11">
            <a:extLst>
              <a:ext uri="{FF2B5EF4-FFF2-40B4-BE49-F238E27FC236}">
                <a16:creationId xmlns:a16="http://schemas.microsoft.com/office/drawing/2014/main" id="{AFEA6C36-1D9A-33D7-E837-31292266D89B}"/>
              </a:ext>
            </a:extLst>
          </p:cNvPr>
          <p:cNvSpPr txBox="1"/>
          <p:nvPr/>
        </p:nvSpPr>
        <p:spPr>
          <a:xfrm>
            <a:off x="3575665" y="4496422"/>
            <a:ext cx="3323303" cy="369332"/>
          </a:xfrm>
          <a:prstGeom prst="rect">
            <a:avLst/>
          </a:prstGeom>
          <a:noFill/>
        </p:spPr>
        <p:txBody>
          <a:bodyPr wrap="square" rtlCol="0">
            <a:spAutoFit/>
          </a:bodyPr>
          <a:lstStyle/>
          <a:p>
            <a:r>
              <a:rPr lang="en-IN" b="1" dirty="0"/>
              <a:t>11. </a:t>
            </a:r>
            <a:r>
              <a:rPr lang="en-IN" dirty="0"/>
              <a:t>KEYPAD(Buttons for ticket): </a:t>
            </a:r>
          </a:p>
        </p:txBody>
      </p:sp>
      <p:pic>
        <p:nvPicPr>
          <p:cNvPr id="17" name="Picture 16">
            <a:extLst>
              <a:ext uri="{FF2B5EF4-FFF2-40B4-BE49-F238E27FC236}">
                <a16:creationId xmlns:a16="http://schemas.microsoft.com/office/drawing/2014/main" id="{47900A25-C38C-449A-4855-B2782AD11CFC}"/>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015740" y="4865754"/>
            <a:ext cx="2080260" cy="1844040"/>
          </a:xfrm>
          <a:prstGeom prst="rect">
            <a:avLst/>
          </a:prstGeom>
          <a:noFill/>
          <a:ln>
            <a:noFill/>
          </a:ln>
        </p:spPr>
      </p:pic>
    </p:spTree>
    <p:extLst>
      <p:ext uri="{BB962C8B-B14F-4D97-AF65-F5344CB8AC3E}">
        <p14:creationId xmlns:p14="http://schemas.microsoft.com/office/powerpoint/2010/main" val="884593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down)">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BBAB7-87FB-B6E6-8F8C-44A9FF50659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4E6CB69-5501-9B44-C706-42D61758C6B5}"/>
              </a:ext>
            </a:extLst>
          </p:cNvPr>
          <p:cNvPicPr>
            <a:picLocks noChangeAspect="1"/>
          </p:cNvPicPr>
          <p:nvPr/>
        </p:nvPicPr>
        <p:blipFill>
          <a:blip r:embed="rId2" cstate="print"/>
          <a:srcRect t="20925" b="14217"/>
          <a:stretch>
            <a:fillRect/>
          </a:stretch>
        </p:blipFill>
        <p:spPr>
          <a:xfrm>
            <a:off x="127004" y="98812"/>
            <a:ext cx="2816934" cy="958645"/>
          </a:xfrm>
          <a:prstGeom prst="rect">
            <a:avLst/>
          </a:prstGeom>
        </p:spPr>
      </p:pic>
      <p:pic>
        <p:nvPicPr>
          <p:cNvPr id="6" name="Picture 5">
            <a:extLst>
              <a:ext uri="{FF2B5EF4-FFF2-40B4-BE49-F238E27FC236}">
                <a16:creationId xmlns:a16="http://schemas.microsoft.com/office/drawing/2014/main" id="{50B63834-0172-D850-623A-5A861A1579AC}"/>
              </a:ext>
            </a:extLst>
          </p:cNvPr>
          <p:cNvPicPr>
            <a:picLocks noChangeAspect="1"/>
          </p:cNvPicPr>
          <p:nvPr/>
        </p:nvPicPr>
        <p:blipFill>
          <a:blip r:embed="rId3" cstate="print"/>
          <a:stretch>
            <a:fillRect/>
          </a:stretch>
        </p:blipFill>
        <p:spPr>
          <a:xfrm>
            <a:off x="5919020" y="287895"/>
            <a:ext cx="979948" cy="736822"/>
          </a:xfrm>
          <a:prstGeom prst="rect">
            <a:avLst/>
          </a:prstGeom>
        </p:spPr>
      </p:pic>
      <p:pic>
        <p:nvPicPr>
          <p:cNvPr id="8" name="Picture 7">
            <a:extLst>
              <a:ext uri="{FF2B5EF4-FFF2-40B4-BE49-F238E27FC236}">
                <a16:creationId xmlns:a16="http://schemas.microsoft.com/office/drawing/2014/main" id="{D2807F61-C222-2B8C-E349-2C16DBA423BB}"/>
              </a:ext>
            </a:extLst>
          </p:cNvPr>
          <p:cNvPicPr>
            <a:picLocks noChangeAspect="1"/>
          </p:cNvPicPr>
          <p:nvPr/>
        </p:nvPicPr>
        <p:blipFill rotWithShape="1">
          <a:blip r:embed="rId4"/>
          <a:srcRect l="17820" r="18861"/>
          <a:stretch/>
        </p:blipFill>
        <p:spPr>
          <a:xfrm>
            <a:off x="11282517" y="191728"/>
            <a:ext cx="680332" cy="635895"/>
          </a:xfrm>
          <a:prstGeom prst="rect">
            <a:avLst/>
          </a:prstGeom>
        </p:spPr>
      </p:pic>
      <p:sp>
        <p:nvSpPr>
          <p:cNvPr id="10" name="Rectangle 9">
            <a:extLst>
              <a:ext uri="{FF2B5EF4-FFF2-40B4-BE49-F238E27FC236}">
                <a16:creationId xmlns:a16="http://schemas.microsoft.com/office/drawing/2014/main" id="{550FA673-2970-EF38-52E8-10C90B62B75E}"/>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COMPONENTS USED</a:t>
            </a:r>
            <a:endParaRPr lang="en-US" sz="20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0E9EAD3-A1AD-403F-9D49-F69A922AE977}"/>
              </a:ext>
            </a:extLst>
          </p:cNvPr>
          <p:cNvSpPr txBox="1"/>
          <p:nvPr/>
        </p:nvSpPr>
        <p:spPr>
          <a:xfrm>
            <a:off x="462116" y="2526890"/>
            <a:ext cx="3323303" cy="369332"/>
          </a:xfrm>
          <a:prstGeom prst="rect">
            <a:avLst/>
          </a:prstGeom>
          <a:noFill/>
        </p:spPr>
        <p:txBody>
          <a:bodyPr wrap="square" rtlCol="0">
            <a:spAutoFit/>
          </a:bodyPr>
          <a:lstStyle/>
          <a:p>
            <a:r>
              <a:rPr lang="en-IN" b="1" dirty="0"/>
              <a:t>13.</a:t>
            </a:r>
            <a:r>
              <a:rPr lang="en-IN" dirty="0"/>
              <a:t> Buzzer (Optional feedback):</a:t>
            </a:r>
          </a:p>
        </p:txBody>
      </p:sp>
      <p:sp>
        <p:nvSpPr>
          <p:cNvPr id="7" name="TextBox 6">
            <a:extLst>
              <a:ext uri="{FF2B5EF4-FFF2-40B4-BE49-F238E27FC236}">
                <a16:creationId xmlns:a16="http://schemas.microsoft.com/office/drawing/2014/main" id="{AF8585BA-1957-C34F-EB53-53198EFBC83F}"/>
              </a:ext>
            </a:extLst>
          </p:cNvPr>
          <p:cNvSpPr txBox="1"/>
          <p:nvPr/>
        </p:nvSpPr>
        <p:spPr>
          <a:xfrm>
            <a:off x="7688825" y="2526890"/>
            <a:ext cx="3185651" cy="369332"/>
          </a:xfrm>
          <a:prstGeom prst="rect">
            <a:avLst/>
          </a:prstGeom>
          <a:noFill/>
        </p:spPr>
        <p:txBody>
          <a:bodyPr wrap="square" rtlCol="0">
            <a:spAutoFit/>
          </a:bodyPr>
          <a:lstStyle/>
          <a:p>
            <a:r>
              <a:rPr lang="en-IN" b="1" dirty="0"/>
              <a:t>14. </a:t>
            </a:r>
            <a:r>
              <a:rPr lang="en-IN" dirty="0"/>
              <a:t>21RFID MODULE (RC522):</a:t>
            </a:r>
          </a:p>
        </p:txBody>
      </p:sp>
      <p:pic>
        <p:nvPicPr>
          <p:cNvPr id="3" name="Picture 2">
            <a:extLst>
              <a:ext uri="{FF2B5EF4-FFF2-40B4-BE49-F238E27FC236}">
                <a16:creationId xmlns:a16="http://schemas.microsoft.com/office/drawing/2014/main" id="{FFBCE9E2-67B4-9AC4-B02E-ECB894744C8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86538" y="3092556"/>
            <a:ext cx="2057400" cy="1219200"/>
          </a:xfrm>
          <a:prstGeom prst="rect">
            <a:avLst/>
          </a:prstGeom>
          <a:noFill/>
          <a:ln>
            <a:noFill/>
          </a:ln>
        </p:spPr>
      </p:pic>
      <p:pic>
        <p:nvPicPr>
          <p:cNvPr id="9" name="Picture 8">
            <a:extLst>
              <a:ext uri="{FF2B5EF4-FFF2-40B4-BE49-F238E27FC236}">
                <a16:creationId xmlns:a16="http://schemas.microsoft.com/office/drawing/2014/main" id="{E207B715-12AF-A96F-56BE-8CED4CB7453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295149" y="3092556"/>
            <a:ext cx="2156460" cy="1234440"/>
          </a:xfrm>
          <a:prstGeom prst="rect">
            <a:avLst/>
          </a:prstGeom>
          <a:noFill/>
          <a:ln>
            <a:noFill/>
          </a:ln>
        </p:spPr>
      </p:pic>
      <p:sp>
        <p:nvSpPr>
          <p:cNvPr id="13" name="TextBox 12">
            <a:extLst>
              <a:ext uri="{FF2B5EF4-FFF2-40B4-BE49-F238E27FC236}">
                <a16:creationId xmlns:a16="http://schemas.microsoft.com/office/drawing/2014/main" id="{C8C3BF3F-B56E-8CCE-3E50-065E4A9C4B16}"/>
              </a:ext>
            </a:extLst>
          </p:cNvPr>
          <p:cNvSpPr txBox="1"/>
          <p:nvPr/>
        </p:nvSpPr>
        <p:spPr>
          <a:xfrm>
            <a:off x="4168877" y="4380829"/>
            <a:ext cx="3421626" cy="369332"/>
          </a:xfrm>
          <a:prstGeom prst="rect">
            <a:avLst/>
          </a:prstGeom>
          <a:noFill/>
        </p:spPr>
        <p:txBody>
          <a:bodyPr wrap="square" rtlCol="0">
            <a:spAutoFit/>
          </a:bodyPr>
          <a:lstStyle/>
          <a:p>
            <a:r>
              <a:rPr lang="en-IN" b="1" dirty="0"/>
              <a:t>15. </a:t>
            </a:r>
            <a:r>
              <a:rPr lang="en-IN" dirty="0"/>
              <a:t>LORA SX1278 MODULE:</a:t>
            </a:r>
          </a:p>
        </p:txBody>
      </p:sp>
      <p:pic>
        <p:nvPicPr>
          <p:cNvPr id="14" name="Picture 13">
            <a:extLst>
              <a:ext uri="{FF2B5EF4-FFF2-40B4-BE49-F238E27FC236}">
                <a16:creationId xmlns:a16="http://schemas.microsoft.com/office/drawing/2014/main" id="{2761377B-7DC8-ECF5-C30E-7056F1070EDB}"/>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352618" y="5050349"/>
            <a:ext cx="2247900" cy="1470660"/>
          </a:xfrm>
          <a:prstGeom prst="rect">
            <a:avLst/>
          </a:prstGeom>
          <a:noFill/>
          <a:ln>
            <a:noFill/>
          </a:ln>
        </p:spPr>
      </p:pic>
    </p:spTree>
    <p:extLst>
      <p:ext uri="{BB962C8B-B14F-4D97-AF65-F5344CB8AC3E}">
        <p14:creationId xmlns:p14="http://schemas.microsoft.com/office/powerpoint/2010/main" val="2942933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ircle(in)">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down)">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0930C-798F-4A97-19C5-EBAB18A9A80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448FC54-0038-3267-7F92-64D948B4FDF9}"/>
              </a:ext>
            </a:extLst>
          </p:cNvPr>
          <p:cNvPicPr>
            <a:picLocks noChangeAspect="1"/>
          </p:cNvPicPr>
          <p:nvPr/>
        </p:nvPicPr>
        <p:blipFill>
          <a:blip r:embed="rId2" cstate="print"/>
          <a:srcRect t="20925" b="14217"/>
          <a:stretch>
            <a:fillRect/>
          </a:stretch>
        </p:blipFill>
        <p:spPr>
          <a:xfrm>
            <a:off x="127004" y="98812"/>
            <a:ext cx="2816934" cy="958645"/>
          </a:xfrm>
          <a:prstGeom prst="rect">
            <a:avLst/>
          </a:prstGeom>
        </p:spPr>
      </p:pic>
      <p:pic>
        <p:nvPicPr>
          <p:cNvPr id="6" name="Picture 5">
            <a:extLst>
              <a:ext uri="{FF2B5EF4-FFF2-40B4-BE49-F238E27FC236}">
                <a16:creationId xmlns:a16="http://schemas.microsoft.com/office/drawing/2014/main" id="{C4B48199-096B-173A-5035-BB8FA9C00C40}"/>
              </a:ext>
            </a:extLst>
          </p:cNvPr>
          <p:cNvPicPr>
            <a:picLocks noChangeAspect="1"/>
          </p:cNvPicPr>
          <p:nvPr/>
        </p:nvPicPr>
        <p:blipFill>
          <a:blip r:embed="rId3" cstate="print"/>
          <a:stretch>
            <a:fillRect/>
          </a:stretch>
        </p:blipFill>
        <p:spPr>
          <a:xfrm>
            <a:off x="5919020" y="287895"/>
            <a:ext cx="979948" cy="736822"/>
          </a:xfrm>
          <a:prstGeom prst="rect">
            <a:avLst/>
          </a:prstGeom>
        </p:spPr>
      </p:pic>
      <p:pic>
        <p:nvPicPr>
          <p:cNvPr id="8" name="Picture 7">
            <a:extLst>
              <a:ext uri="{FF2B5EF4-FFF2-40B4-BE49-F238E27FC236}">
                <a16:creationId xmlns:a16="http://schemas.microsoft.com/office/drawing/2014/main" id="{71A3FD15-49DC-F2B1-51EB-E65F2E0D187B}"/>
              </a:ext>
            </a:extLst>
          </p:cNvPr>
          <p:cNvPicPr>
            <a:picLocks noChangeAspect="1"/>
          </p:cNvPicPr>
          <p:nvPr/>
        </p:nvPicPr>
        <p:blipFill rotWithShape="1">
          <a:blip r:embed="rId4"/>
          <a:srcRect l="17820" r="18861"/>
          <a:stretch/>
        </p:blipFill>
        <p:spPr>
          <a:xfrm>
            <a:off x="11282517" y="191728"/>
            <a:ext cx="680332" cy="635895"/>
          </a:xfrm>
          <a:prstGeom prst="rect">
            <a:avLst/>
          </a:prstGeom>
        </p:spPr>
      </p:pic>
      <p:sp>
        <p:nvSpPr>
          <p:cNvPr id="10" name="Rectangle 9">
            <a:extLst>
              <a:ext uri="{FF2B5EF4-FFF2-40B4-BE49-F238E27FC236}">
                <a16:creationId xmlns:a16="http://schemas.microsoft.com/office/drawing/2014/main" id="{0F94C081-0700-210D-147A-C24534492FD9}"/>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HARDWARE OUTPUT</a:t>
            </a:r>
          </a:p>
        </p:txBody>
      </p:sp>
      <p:sp>
        <p:nvSpPr>
          <p:cNvPr id="5" name="TextBox 4">
            <a:extLst>
              <a:ext uri="{FF2B5EF4-FFF2-40B4-BE49-F238E27FC236}">
                <a16:creationId xmlns:a16="http://schemas.microsoft.com/office/drawing/2014/main" id="{C0AE953F-8164-D14B-9237-E755BF679716}"/>
              </a:ext>
            </a:extLst>
          </p:cNvPr>
          <p:cNvSpPr txBox="1"/>
          <p:nvPr/>
        </p:nvSpPr>
        <p:spPr>
          <a:xfrm>
            <a:off x="5453043" y="1881580"/>
            <a:ext cx="1401730" cy="369332"/>
          </a:xfrm>
          <a:prstGeom prst="rect">
            <a:avLst/>
          </a:prstGeom>
          <a:noFill/>
        </p:spPr>
        <p:txBody>
          <a:bodyPr wrap="none" rtlCol="0">
            <a:spAutoFit/>
          </a:bodyPr>
          <a:lstStyle/>
          <a:p>
            <a:r>
              <a:rPr lang="en-US" b="1" dirty="0"/>
              <a:t>MAIN PANEL</a:t>
            </a:r>
            <a:endParaRPr lang="en-IN" b="1" dirty="0"/>
          </a:p>
        </p:txBody>
      </p:sp>
      <p:cxnSp>
        <p:nvCxnSpPr>
          <p:cNvPr id="9" name="Straight Arrow Connector 8">
            <a:extLst>
              <a:ext uri="{FF2B5EF4-FFF2-40B4-BE49-F238E27FC236}">
                <a16:creationId xmlns:a16="http://schemas.microsoft.com/office/drawing/2014/main" id="{EC644BAD-6575-9449-D691-D7008BE14E37}"/>
              </a:ext>
            </a:extLst>
          </p:cNvPr>
          <p:cNvCxnSpPr>
            <a:cxnSpLocks/>
          </p:cNvCxnSpPr>
          <p:nvPr/>
        </p:nvCxnSpPr>
        <p:spPr>
          <a:xfrm>
            <a:off x="8278761" y="3340508"/>
            <a:ext cx="452284" cy="0"/>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F5D6BCAB-D0F4-DAB8-3189-FAAEEC5938BE}"/>
              </a:ext>
            </a:extLst>
          </p:cNvPr>
          <p:cNvCxnSpPr>
            <a:cxnSpLocks/>
          </p:cNvCxnSpPr>
          <p:nvPr/>
        </p:nvCxnSpPr>
        <p:spPr>
          <a:xfrm flipH="1">
            <a:off x="3549445" y="3264310"/>
            <a:ext cx="43262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a:extLst>
              <a:ext uri="{FF2B5EF4-FFF2-40B4-BE49-F238E27FC236}">
                <a16:creationId xmlns:a16="http://schemas.microsoft.com/office/drawing/2014/main" id="{A8E2C496-B955-0A12-615F-F3565A7F0D4E}"/>
              </a:ext>
            </a:extLst>
          </p:cNvPr>
          <p:cNvCxnSpPr>
            <a:cxnSpLocks/>
          </p:cNvCxnSpPr>
          <p:nvPr/>
        </p:nvCxnSpPr>
        <p:spPr>
          <a:xfrm>
            <a:off x="6153908" y="4496943"/>
            <a:ext cx="0" cy="351232"/>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pic>
        <p:nvPicPr>
          <p:cNvPr id="2" name="Picture 1">
            <a:extLst>
              <a:ext uri="{FF2B5EF4-FFF2-40B4-BE49-F238E27FC236}">
                <a16:creationId xmlns:a16="http://schemas.microsoft.com/office/drawing/2014/main" id="{3DF4D783-EBBA-71BF-E01C-8CC3D8F2E09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229100" y="2362200"/>
            <a:ext cx="3733800" cy="2133600"/>
          </a:xfrm>
          <a:prstGeom prst="rect">
            <a:avLst/>
          </a:prstGeom>
          <a:noFill/>
          <a:ln>
            <a:noFill/>
          </a:ln>
        </p:spPr>
      </p:pic>
      <p:pic>
        <p:nvPicPr>
          <p:cNvPr id="7" name="Picture 6">
            <a:extLst>
              <a:ext uri="{FF2B5EF4-FFF2-40B4-BE49-F238E27FC236}">
                <a16:creationId xmlns:a16="http://schemas.microsoft.com/office/drawing/2014/main" id="{A6830E19-EC52-43ED-4167-1F8B461B355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37652" y="2772818"/>
            <a:ext cx="3369310" cy="1135380"/>
          </a:xfrm>
          <a:prstGeom prst="rect">
            <a:avLst/>
          </a:prstGeom>
          <a:noFill/>
          <a:ln>
            <a:noFill/>
          </a:ln>
        </p:spPr>
      </p:pic>
      <p:pic>
        <p:nvPicPr>
          <p:cNvPr id="11" name="Picture 10">
            <a:extLst>
              <a:ext uri="{FF2B5EF4-FFF2-40B4-BE49-F238E27FC236}">
                <a16:creationId xmlns:a16="http://schemas.microsoft.com/office/drawing/2014/main" id="{FF248A68-C89E-B588-C91D-A911E5680FF4}"/>
              </a:ext>
            </a:extLst>
          </p:cNvPr>
          <p:cNvPicPr/>
          <p:nvPr/>
        </p:nvPicPr>
        <p:blipFill>
          <a:blip r:embed="rId7">
            <a:extLst>
              <a:ext uri="{28A0092B-C50C-407E-A947-70E740481C1C}">
                <a14:useLocalDpi xmlns:a14="http://schemas.microsoft.com/office/drawing/2010/main" val="0"/>
              </a:ext>
            </a:extLst>
          </a:blip>
          <a:stretch>
            <a:fillRect/>
          </a:stretch>
        </p:blipFill>
        <p:spPr>
          <a:xfrm>
            <a:off x="8960628" y="2544069"/>
            <a:ext cx="3093720" cy="1562735"/>
          </a:xfrm>
          <a:prstGeom prst="rect">
            <a:avLst/>
          </a:prstGeom>
        </p:spPr>
      </p:pic>
      <p:grpSp>
        <p:nvGrpSpPr>
          <p:cNvPr id="12" name="Group 11">
            <a:extLst>
              <a:ext uri="{FF2B5EF4-FFF2-40B4-BE49-F238E27FC236}">
                <a16:creationId xmlns:a16="http://schemas.microsoft.com/office/drawing/2014/main" id="{052FFC6D-E1BD-5B9C-83D8-FACBBFB5E8E5}"/>
              </a:ext>
            </a:extLst>
          </p:cNvPr>
          <p:cNvGrpSpPr>
            <a:grpSpLocks/>
          </p:cNvGrpSpPr>
          <p:nvPr/>
        </p:nvGrpSpPr>
        <p:grpSpPr bwMode="auto">
          <a:xfrm>
            <a:off x="4468232" y="4744144"/>
            <a:ext cx="3574451" cy="2651845"/>
            <a:chOff x="35086" y="-15272"/>
            <a:chExt cx="63816" cy="42750"/>
          </a:xfrm>
        </p:grpSpPr>
        <p:sp>
          <p:nvSpPr>
            <p:cNvPr id="13" name="Rectangle 12">
              <a:extLst>
                <a:ext uri="{FF2B5EF4-FFF2-40B4-BE49-F238E27FC236}">
                  <a16:creationId xmlns:a16="http://schemas.microsoft.com/office/drawing/2014/main" id="{2BE96967-F2F0-EE7B-CD32-DEC95550B5B9}"/>
                </a:ext>
              </a:extLst>
            </p:cNvPr>
            <p:cNvSpPr>
              <a:spLocks noChangeArrowheads="1"/>
            </p:cNvSpPr>
            <p:nvPr/>
          </p:nvSpPr>
          <p:spPr bwMode="auto">
            <a:xfrm>
              <a:off x="64674" y="25634"/>
              <a:ext cx="507" cy="1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ct val="106000"/>
                </a:lnSpc>
                <a:spcAft>
                  <a:spcPts val="800"/>
                </a:spcAft>
                <a:buNone/>
              </a:pPr>
              <a:r>
                <a:rPr lang="en-IN" sz="1100">
                  <a:effectLst/>
                  <a:latin typeface="Times New Roman" panose="02020603050405020304" pitchFamily="18" charset="0"/>
                  <a:ea typeface="Times New Roman" panose="02020603050405020304" pitchFamily="18" charset="0"/>
                </a:rPr>
                <a:t> </a:t>
              </a:r>
            </a:p>
          </p:txBody>
        </p:sp>
        <p:pic>
          <p:nvPicPr>
            <p:cNvPr id="15" name="Picture 14">
              <a:extLst>
                <a:ext uri="{FF2B5EF4-FFF2-40B4-BE49-F238E27FC236}">
                  <a16:creationId xmlns:a16="http://schemas.microsoft.com/office/drawing/2014/main" id="{19760B32-4570-D948-99D1-5BD9C09A50C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086" y="-15272"/>
              <a:ext cx="63816" cy="25915"/>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TextBox 17">
            <a:extLst>
              <a:ext uri="{FF2B5EF4-FFF2-40B4-BE49-F238E27FC236}">
                <a16:creationId xmlns:a16="http://schemas.microsoft.com/office/drawing/2014/main" id="{8A26DF97-27C1-6A65-0DB8-738F28EAF758}"/>
              </a:ext>
            </a:extLst>
          </p:cNvPr>
          <p:cNvSpPr txBox="1"/>
          <p:nvPr/>
        </p:nvSpPr>
        <p:spPr>
          <a:xfrm>
            <a:off x="989995" y="4047810"/>
            <a:ext cx="1664623" cy="369332"/>
          </a:xfrm>
          <a:prstGeom prst="rect">
            <a:avLst/>
          </a:prstGeom>
          <a:noFill/>
        </p:spPr>
        <p:txBody>
          <a:bodyPr wrap="none" rtlCol="0">
            <a:spAutoFit/>
          </a:bodyPr>
          <a:lstStyle/>
          <a:p>
            <a:r>
              <a:rPr lang="en-US" b="1" dirty="0"/>
              <a:t>TICKET DISPLAY</a:t>
            </a:r>
            <a:endParaRPr lang="en-IN" dirty="0"/>
          </a:p>
        </p:txBody>
      </p:sp>
      <p:sp>
        <p:nvSpPr>
          <p:cNvPr id="25" name="TextBox 24">
            <a:extLst>
              <a:ext uri="{FF2B5EF4-FFF2-40B4-BE49-F238E27FC236}">
                <a16:creationId xmlns:a16="http://schemas.microsoft.com/office/drawing/2014/main" id="{CEA71B36-F74E-318C-3657-791300A49A83}"/>
              </a:ext>
            </a:extLst>
          </p:cNvPr>
          <p:cNvSpPr txBox="1"/>
          <p:nvPr/>
        </p:nvSpPr>
        <p:spPr>
          <a:xfrm>
            <a:off x="5245917" y="6351689"/>
            <a:ext cx="2166362" cy="369332"/>
          </a:xfrm>
          <a:prstGeom prst="rect">
            <a:avLst/>
          </a:prstGeom>
          <a:noFill/>
        </p:spPr>
        <p:txBody>
          <a:bodyPr wrap="none" rtlCol="0">
            <a:spAutoFit/>
          </a:bodyPr>
          <a:lstStyle/>
          <a:p>
            <a:r>
              <a:rPr lang="en-US" b="1"/>
              <a:t>BUS ARRIVE DISPLAY</a:t>
            </a:r>
            <a:endParaRPr lang="en-IN" dirty="0"/>
          </a:p>
        </p:txBody>
      </p:sp>
      <p:sp>
        <p:nvSpPr>
          <p:cNvPr id="26" name="TextBox 25">
            <a:extLst>
              <a:ext uri="{FF2B5EF4-FFF2-40B4-BE49-F238E27FC236}">
                <a16:creationId xmlns:a16="http://schemas.microsoft.com/office/drawing/2014/main" id="{B77C243E-4390-7486-F5F5-62BAB48B17B4}"/>
              </a:ext>
            </a:extLst>
          </p:cNvPr>
          <p:cNvSpPr txBox="1"/>
          <p:nvPr/>
        </p:nvSpPr>
        <p:spPr>
          <a:xfrm>
            <a:off x="9369099" y="4138759"/>
            <a:ext cx="2276777" cy="369332"/>
          </a:xfrm>
          <a:prstGeom prst="rect">
            <a:avLst/>
          </a:prstGeom>
          <a:noFill/>
        </p:spPr>
        <p:txBody>
          <a:bodyPr wrap="none" rtlCol="0">
            <a:spAutoFit/>
          </a:bodyPr>
          <a:lstStyle/>
          <a:p>
            <a:r>
              <a:rPr lang="en-US" b="1" dirty="0"/>
              <a:t>EMERGENCY DISPLAY </a:t>
            </a:r>
            <a:endParaRPr lang="en-IN" dirty="0"/>
          </a:p>
        </p:txBody>
      </p:sp>
    </p:spTree>
    <p:extLst>
      <p:ext uri="{BB962C8B-B14F-4D97-AF65-F5344CB8AC3E}">
        <p14:creationId xmlns:p14="http://schemas.microsoft.com/office/powerpoint/2010/main" val="2797269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1F5FE-534B-AB27-C8EC-368428285CE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EBA6FCB-7960-A552-ECA8-C8CA6FC06DEA}"/>
              </a:ext>
            </a:extLst>
          </p:cNvPr>
          <p:cNvPicPr>
            <a:picLocks noChangeAspect="1"/>
          </p:cNvPicPr>
          <p:nvPr/>
        </p:nvPicPr>
        <p:blipFill>
          <a:blip r:embed="rId3" cstate="print"/>
          <a:srcRect t="20925" b="14217"/>
          <a:stretch>
            <a:fillRect/>
          </a:stretch>
        </p:blipFill>
        <p:spPr>
          <a:xfrm>
            <a:off x="127004" y="98812"/>
            <a:ext cx="2816934" cy="958645"/>
          </a:xfrm>
          <a:prstGeom prst="rect">
            <a:avLst/>
          </a:prstGeom>
        </p:spPr>
      </p:pic>
      <p:pic>
        <p:nvPicPr>
          <p:cNvPr id="6" name="Picture 5">
            <a:extLst>
              <a:ext uri="{FF2B5EF4-FFF2-40B4-BE49-F238E27FC236}">
                <a16:creationId xmlns:a16="http://schemas.microsoft.com/office/drawing/2014/main" id="{467FA726-CDE9-F57B-FAF4-B2F703BA0DD2}"/>
              </a:ext>
            </a:extLst>
          </p:cNvPr>
          <p:cNvPicPr>
            <a:picLocks noChangeAspect="1"/>
          </p:cNvPicPr>
          <p:nvPr/>
        </p:nvPicPr>
        <p:blipFill>
          <a:blip r:embed="rId4" cstate="print"/>
          <a:stretch>
            <a:fillRect/>
          </a:stretch>
        </p:blipFill>
        <p:spPr>
          <a:xfrm>
            <a:off x="5919020" y="287895"/>
            <a:ext cx="979948" cy="736822"/>
          </a:xfrm>
          <a:prstGeom prst="rect">
            <a:avLst/>
          </a:prstGeom>
        </p:spPr>
      </p:pic>
      <p:pic>
        <p:nvPicPr>
          <p:cNvPr id="8" name="Picture 7">
            <a:extLst>
              <a:ext uri="{FF2B5EF4-FFF2-40B4-BE49-F238E27FC236}">
                <a16:creationId xmlns:a16="http://schemas.microsoft.com/office/drawing/2014/main" id="{93951295-73F6-B7B3-7118-90AA0C7648AB}"/>
              </a:ext>
            </a:extLst>
          </p:cNvPr>
          <p:cNvPicPr>
            <a:picLocks noChangeAspect="1"/>
          </p:cNvPicPr>
          <p:nvPr/>
        </p:nvPicPr>
        <p:blipFill rotWithShape="1">
          <a:blip r:embed="rId5"/>
          <a:srcRect l="17820" r="18861"/>
          <a:stretch/>
        </p:blipFill>
        <p:spPr>
          <a:xfrm>
            <a:off x="11282517" y="191728"/>
            <a:ext cx="680332" cy="635895"/>
          </a:xfrm>
          <a:prstGeom prst="rect">
            <a:avLst/>
          </a:prstGeom>
        </p:spPr>
      </p:pic>
      <p:sp>
        <p:nvSpPr>
          <p:cNvPr id="10" name="Rectangle 9">
            <a:extLst>
              <a:ext uri="{FF2B5EF4-FFF2-40B4-BE49-F238E27FC236}">
                <a16:creationId xmlns:a16="http://schemas.microsoft.com/office/drawing/2014/main" id="{009E2CC6-013C-421E-E6EF-F652D976B43B}"/>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SOFTWARE OUTPUT</a:t>
            </a:r>
          </a:p>
        </p:txBody>
      </p:sp>
      <p:sp>
        <p:nvSpPr>
          <p:cNvPr id="11" name="TextBox 10">
            <a:extLst>
              <a:ext uri="{FF2B5EF4-FFF2-40B4-BE49-F238E27FC236}">
                <a16:creationId xmlns:a16="http://schemas.microsoft.com/office/drawing/2014/main" id="{2066DD9B-1A7B-BDA0-E409-30C8088A041C}"/>
              </a:ext>
            </a:extLst>
          </p:cNvPr>
          <p:cNvSpPr txBox="1"/>
          <p:nvPr/>
        </p:nvSpPr>
        <p:spPr>
          <a:xfrm>
            <a:off x="449274" y="1984234"/>
            <a:ext cx="11513575" cy="707886"/>
          </a:xfrm>
          <a:prstGeom prst="rect">
            <a:avLst/>
          </a:prstGeom>
          <a:noFill/>
        </p:spPr>
        <p:txBody>
          <a:bodyPr wrap="square" rtlCol="0">
            <a:spAutoFit/>
          </a:bodyPr>
          <a:lstStyle/>
          <a:p>
            <a:pPr lvl="0"/>
            <a:endParaRPr lang="en-IN" sz="2000" b="1" dirty="0"/>
          </a:p>
          <a:p>
            <a:pPr lvl="0"/>
            <a:endParaRPr lang="en-IN" sz="2000" dirty="0"/>
          </a:p>
        </p:txBody>
      </p:sp>
      <p:sp>
        <p:nvSpPr>
          <p:cNvPr id="2" name="TextBox 1">
            <a:extLst>
              <a:ext uri="{FF2B5EF4-FFF2-40B4-BE49-F238E27FC236}">
                <a16:creationId xmlns:a16="http://schemas.microsoft.com/office/drawing/2014/main" id="{72985A96-197C-F438-56E7-ACF55CF4CA0E}"/>
              </a:ext>
            </a:extLst>
          </p:cNvPr>
          <p:cNvSpPr txBox="1"/>
          <p:nvPr/>
        </p:nvSpPr>
        <p:spPr>
          <a:xfrm>
            <a:off x="229152" y="2153265"/>
            <a:ext cx="11127106" cy="646331"/>
          </a:xfrm>
          <a:prstGeom prst="rect">
            <a:avLst/>
          </a:prstGeom>
          <a:noFill/>
        </p:spPr>
        <p:txBody>
          <a:bodyPr wrap="square" rtlCol="0">
            <a:spAutoFit/>
          </a:bodyPr>
          <a:lstStyle/>
          <a:p>
            <a:r>
              <a:rPr lang="en-US" b="1" dirty="0"/>
              <a:t>The QR Code for Public:</a:t>
            </a:r>
            <a:r>
              <a:rPr lang="en-US" dirty="0"/>
              <a:t>                                                                                                   </a:t>
            </a:r>
            <a:r>
              <a:rPr lang="en-US" b="1" dirty="0"/>
              <a:t>The QR Code For Admin:                                                                         </a:t>
            </a:r>
            <a:endParaRPr lang="en-IN" dirty="0"/>
          </a:p>
          <a:p>
            <a:r>
              <a:rPr lang="en-US" b="1" dirty="0"/>
              <a:t>                                                                                                 </a:t>
            </a:r>
            <a:endParaRPr lang="en-IN" b="1" dirty="0"/>
          </a:p>
        </p:txBody>
      </p:sp>
      <p:pic>
        <p:nvPicPr>
          <p:cNvPr id="3" name="Picture 2">
            <a:extLst>
              <a:ext uri="{FF2B5EF4-FFF2-40B4-BE49-F238E27FC236}">
                <a16:creationId xmlns:a16="http://schemas.microsoft.com/office/drawing/2014/main" id="{5E56E228-4A1F-0FA9-8D2A-5D64F6B35B5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3738" y="2577611"/>
            <a:ext cx="1600200" cy="1760220"/>
          </a:xfrm>
          <a:prstGeom prst="rect">
            <a:avLst/>
          </a:prstGeom>
        </p:spPr>
      </p:pic>
      <p:pic>
        <p:nvPicPr>
          <p:cNvPr id="5" name="Picture 4">
            <a:extLst>
              <a:ext uri="{FF2B5EF4-FFF2-40B4-BE49-F238E27FC236}">
                <a16:creationId xmlns:a16="http://schemas.microsoft.com/office/drawing/2014/main" id="{AE916B7F-731D-D436-3218-57E98781D4A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999655" y="2555337"/>
            <a:ext cx="1686560" cy="1775460"/>
          </a:xfrm>
          <a:prstGeom prst="rect">
            <a:avLst/>
          </a:prstGeom>
        </p:spPr>
      </p:pic>
      <p:sp>
        <p:nvSpPr>
          <p:cNvPr id="9" name="Rectangle 2">
            <a:extLst>
              <a:ext uri="{FF2B5EF4-FFF2-40B4-BE49-F238E27FC236}">
                <a16:creationId xmlns:a16="http://schemas.microsoft.com/office/drawing/2014/main" id="{EC85C892-91DB-533B-15A9-B424172A1ED2}"/>
              </a:ext>
            </a:extLst>
          </p:cNvPr>
          <p:cNvSpPr>
            <a:spLocks noChangeArrowheads="1"/>
          </p:cNvSpPr>
          <p:nvPr/>
        </p:nvSpPr>
        <p:spPr bwMode="auto">
          <a:xfrm>
            <a:off x="2756720" y="31741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1836" tIns="46023" rIns="2515395" bIns="45720" numCol="1" anchor="ctr" anchorCtr="0" compatLnSpc="1">
            <a:prstTxWarp prst="textNoShape">
              <a:avLst/>
            </a:prstTxWarp>
            <a:spAutoFit/>
          </a:bodyPr>
          <a:lstStyle/>
          <a:p>
            <a:endParaRPr lang="en-IN"/>
          </a:p>
        </p:txBody>
      </p:sp>
      <p:pic>
        <p:nvPicPr>
          <p:cNvPr id="2049" name="Picture 1">
            <a:extLst>
              <a:ext uri="{FF2B5EF4-FFF2-40B4-BE49-F238E27FC236}">
                <a16:creationId xmlns:a16="http://schemas.microsoft.com/office/drawing/2014/main" id="{A37227B4-F1E4-7685-E1B1-6A262AB11E8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4533" y="3760130"/>
            <a:ext cx="5888974" cy="280997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3">
            <a:extLst>
              <a:ext uri="{FF2B5EF4-FFF2-40B4-BE49-F238E27FC236}">
                <a16:creationId xmlns:a16="http://schemas.microsoft.com/office/drawing/2014/main" id="{F963EDE0-394C-7CE2-F040-F570BD637326}"/>
              </a:ext>
            </a:extLst>
          </p:cNvPr>
          <p:cNvSpPr>
            <a:spLocks noChangeArrowheads="1"/>
          </p:cNvSpPr>
          <p:nvPr/>
        </p:nvSpPr>
        <p:spPr bwMode="auto">
          <a:xfrm>
            <a:off x="4860824" y="354285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Main Dashboard: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3025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049"/>
                                        </p:tgtEl>
                                        <p:attrNameLst>
                                          <p:attrName>style.visibility</p:attrName>
                                        </p:attrNameLst>
                                      </p:cBhvr>
                                      <p:to>
                                        <p:strVal val="visible"/>
                                      </p:to>
                                    </p:set>
                                    <p:anim calcmode="lin" valueType="num">
                                      <p:cBhvr>
                                        <p:cTn id="7" dur="500" fill="hold"/>
                                        <p:tgtEl>
                                          <p:spTgt spid="2049"/>
                                        </p:tgtEl>
                                        <p:attrNameLst>
                                          <p:attrName>ppt_w</p:attrName>
                                        </p:attrNameLst>
                                      </p:cBhvr>
                                      <p:tavLst>
                                        <p:tav tm="0">
                                          <p:val>
                                            <p:fltVal val="0"/>
                                          </p:val>
                                        </p:tav>
                                        <p:tav tm="100000">
                                          <p:val>
                                            <p:strVal val="#ppt_w"/>
                                          </p:val>
                                        </p:tav>
                                      </p:tavLst>
                                    </p:anim>
                                    <p:anim calcmode="lin" valueType="num">
                                      <p:cBhvr>
                                        <p:cTn id="8" dur="500" fill="hold"/>
                                        <p:tgtEl>
                                          <p:spTgt spid="2049"/>
                                        </p:tgtEl>
                                        <p:attrNameLst>
                                          <p:attrName>ppt_h</p:attrName>
                                        </p:attrNameLst>
                                      </p:cBhvr>
                                      <p:tavLst>
                                        <p:tav tm="0">
                                          <p:val>
                                            <p:fltVal val="0"/>
                                          </p:val>
                                        </p:tav>
                                        <p:tav tm="100000">
                                          <p:val>
                                            <p:strVal val="#ppt_h"/>
                                          </p:val>
                                        </p:tav>
                                      </p:tavLst>
                                    </p:anim>
                                    <p:animEffect transition="in" filter="fade">
                                      <p:cBhvr>
                                        <p:cTn id="9" dur="500"/>
                                        <p:tgtEl>
                                          <p:spTgt spid="2049"/>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randombar(horizont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randombar(horizont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49C58-39DB-9B90-50DC-F85C54FBF03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7293042-6A98-807E-590E-8EC64DAF249D}"/>
              </a:ext>
            </a:extLst>
          </p:cNvPr>
          <p:cNvPicPr>
            <a:picLocks noChangeAspect="1"/>
          </p:cNvPicPr>
          <p:nvPr/>
        </p:nvPicPr>
        <p:blipFill>
          <a:blip r:embed="rId2" cstate="print"/>
          <a:srcRect t="20925" b="14217"/>
          <a:stretch>
            <a:fillRect/>
          </a:stretch>
        </p:blipFill>
        <p:spPr>
          <a:xfrm>
            <a:off x="127004" y="98812"/>
            <a:ext cx="2816934" cy="958645"/>
          </a:xfrm>
          <a:prstGeom prst="rect">
            <a:avLst/>
          </a:prstGeom>
        </p:spPr>
      </p:pic>
      <p:pic>
        <p:nvPicPr>
          <p:cNvPr id="6" name="Picture 5">
            <a:extLst>
              <a:ext uri="{FF2B5EF4-FFF2-40B4-BE49-F238E27FC236}">
                <a16:creationId xmlns:a16="http://schemas.microsoft.com/office/drawing/2014/main" id="{F6A3D504-181C-8BD8-4B80-F911DDDC271C}"/>
              </a:ext>
            </a:extLst>
          </p:cNvPr>
          <p:cNvPicPr>
            <a:picLocks noChangeAspect="1"/>
          </p:cNvPicPr>
          <p:nvPr/>
        </p:nvPicPr>
        <p:blipFill>
          <a:blip r:embed="rId3" cstate="print"/>
          <a:stretch>
            <a:fillRect/>
          </a:stretch>
        </p:blipFill>
        <p:spPr>
          <a:xfrm>
            <a:off x="5919020" y="287895"/>
            <a:ext cx="979948" cy="736822"/>
          </a:xfrm>
          <a:prstGeom prst="rect">
            <a:avLst/>
          </a:prstGeom>
        </p:spPr>
      </p:pic>
      <p:pic>
        <p:nvPicPr>
          <p:cNvPr id="8" name="Picture 7">
            <a:extLst>
              <a:ext uri="{FF2B5EF4-FFF2-40B4-BE49-F238E27FC236}">
                <a16:creationId xmlns:a16="http://schemas.microsoft.com/office/drawing/2014/main" id="{96D032FE-9D6E-402A-8100-AD04B5FDDDDF}"/>
              </a:ext>
            </a:extLst>
          </p:cNvPr>
          <p:cNvPicPr>
            <a:picLocks noChangeAspect="1"/>
          </p:cNvPicPr>
          <p:nvPr/>
        </p:nvPicPr>
        <p:blipFill rotWithShape="1">
          <a:blip r:embed="rId4"/>
          <a:srcRect l="17820" r="18861"/>
          <a:stretch/>
        </p:blipFill>
        <p:spPr>
          <a:xfrm>
            <a:off x="11282517" y="191728"/>
            <a:ext cx="680332" cy="635895"/>
          </a:xfrm>
          <a:prstGeom prst="rect">
            <a:avLst/>
          </a:prstGeom>
        </p:spPr>
      </p:pic>
      <p:sp>
        <p:nvSpPr>
          <p:cNvPr id="10" name="Rectangle 9">
            <a:extLst>
              <a:ext uri="{FF2B5EF4-FFF2-40B4-BE49-F238E27FC236}">
                <a16:creationId xmlns:a16="http://schemas.microsoft.com/office/drawing/2014/main" id="{22C0B0EB-BD16-31FF-D0EB-2EA4CF6E507F}"/>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B</a:t>
            </a:r>
            <a:r>
              <a:rPr lang="en-IN" sz="2000" b="1" dirty="0">
                <a:latin typeface="Times New Roman" panose="02020603050405020304" pitchFamily="18" charset="0"/>
                <a:cs typeface="Times New Roman" panose="02020603050405020304" pitchFamily="18" charset="0"/>
              </a:rPr>
              <a:t>ENEFITS</a:t>
            </a:r>
            <a:endParaRPr lang="en-US" sz="2000"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D40F4313-EC96-0586-D0E5-B450F0A21A18}"/>
              </a:ext>
            </a:extLst>
          </p:cNvPr>
          <p:cNvSpPr>
            <a:spLocks noChangeArrowheads="1"/>
          </p:cNvSpPr>
          <p:nvPr/>
        </p:nvSpPr>
        <p:spPr bwMode="auto">
          <a:xfrm>
            <a:off x="206477" y="1830126"/>
            <a:ext cx="11756372"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Sustainable Power Usage: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Operates entirely on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solar energy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reducing dependency on the power grid and supporting clean, renewable energy goals.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Bus Information</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Displays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live bus arrival and departure times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reducing passenger waiting anxiety and improving time management.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Authentication &amp; Ticketing</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RFID-based system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automatic bus detection and contactless passenger identification, ensuring faster and cashless ticketing.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Passenger Safety</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Emergency alert system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(button + keypad) allows passengers to immediately contact authorities during emergencies.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IoT Connectivity</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IoT modules ensure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seamless communication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between the shelter, buses, and control centers for data updates and monitoring.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Passenger Convenience &amp; Comfort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weather updates, notifications, and smart lighting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travel more convenient and user-friendly.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Eco-Friendly and Cost-Effective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Minimizes electricity bills and carbon footprint, supporting a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sustainable public transport ecosystem.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57026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C8F69-A0A9-9ECC-7B72-E6166C9C626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04CA261-0C14-B935-342E-E8116F5CE740}"/>
              </a:ext>
            </a:extLst>
          </p:cNvPr>
          <p:cNvPicPr>
            <a:picLocks noChangeAspect="1"/>
          </p:cNvPicPr>
          <p:nvPr/>
        </p:nvPicPr>
        <p:blipFill>
          <a:blip r:embed="rId2" cstate="print"/>
          <a:srcRect t="20925" b="14217"/>
          <a:stretch>
            <a:fillRect/>
          </a:stretch>
        </p:blipFill>
        <p:spPr>
          <a:xfrm>
            <a:off x="127004" y="98812"/>
            <a:ext cx="2816934" cy="958645"/>
          </a:xfrm>
          <a:prstGeom prst="rect">
            <a:avLst/>
          </a:prstGeom>
        </p:spPr>
      </p:pic>
      <p:pic>
        <p:nvPicPr>
          <p:cNvPr id="6" name="Picture 5">
            <a:extLst>
              <a:ext uri="{FF2B5EF4-FFF2-40B4-BE49-F238E27FC236}">
                <a16:creationId xmlns:a16="http://schemas.microsoft.com/office/drawing/2014/main" id="{C2D0ED17-0F08-2B61-5980-A095F316E80C}"/>
              </a:ext>
            </a:extLst>
          </p:cNvPr>
          <p:cNvPicPr>
            <a:picLocks noChangeAspect="1"/>
          </p:cNvPicPr>
          <p:nvPr/>
        </p:nvPicPr>
        <p:blipFill>
          <a:blip r:embed="rId3" cstate="print"/>
          <a:stretch>
            <a:fillRect/>
          </a:stretch>
        </p:blipFill>
        <p:spPr>
          <a:xfrm>
            <a:off x="5919020" y="287895"/>
            <a:ext cx="979948" cy="736822"/>
          </a:xfrm>
          <a:prstGeom prst="rect">
            <a:avLst/>
          </a:prstGeom>
        </p:spPr>
      </p:pic>
      <p:pic>
        <p:nvPicPr>
          <p:cNvPr id="8" name="Picture 7">
            <a:extLst>
              <a:ext uri="{FF2B5EF4-FFF2-40B4-BE49-F238E27FC236}">
                <a16:creationId xmlns:a16="http://schemas.microsoft.com/office/drawing/2014/main" id="{64CD7C2B-23F5-AF87-2948-0D3C1D8004F3}"/>
              </a:ext>
            </a:extLst>
          </p:cNvPr>
          <p:cNvPicPr>
            <a:picLocks noChangeAspect="1"/>
          </p:cNvPicPr>
          <p:nvPr/>
        </p:nvPicPr>
        <p:blipFill rotWithShape="1">
          <a:blip r:embed="rId4"/>
          <a:srcRect l="17820" r="18861"/>
          <a:stretch/>
        </p:blipFill>
        <p:spPr>
          <a:xfrm>
            <a:off x="11282517" y="191728"/>
            <a:ext cx="680332" cy="635895"/>
          </a:xfrm>
          <a:prstGeom prst="rect">
            <a:avLst/>
          </a:prstGeom>
        </p:spPr>
      </p:pic>
      <p:sp>
        <p:nvSpPr>
          <p:cNvPr id="10" name="Rectangle 9">
            <a:extLst>
              <a:ext uri="{FF2B5EF4-FFF2-40B4-BE49-F238E27FC236}">
                <a16:creationId xmlns:a16="http://schemas.microsoft.com/office/drawing/2014/main" id="{311573C6-1679-954B-579D-F8A113029852}"/>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FUTURE SCOPE</a:t>
            </a:r>
          </a:p>
        </p:txBody>
      </p:sp>
      <p:sp>
        <p:nvSpPr>
          <p:cNvPr id="11" name="TextBox 10">
            <a:extLst>
              <a:ext uri="{FF2B5EF4-FFF2-40B4-BE49-F238E27FC236}">
                <a16:creationId xmlns:a16="http://schemas.microsoft.com/office/drawing/2014/main" id="{A36778F2-DB46-536F-96FC-1A7212F60E3D}"/>
              </a:ext>
            </a:extLst>
          </p:cNvPr>
          <p:cNvSpPr txBox="1"/>
          <p:nvPr/>
        </p:nvSpPr>
        <p:spPr>
          <a:xfrm>
            <a:off x="449274" y="1984234"/>
            <a:ext cx="11513575" cy="4585871"/>
          </a:xfrm>
          <a:prstGeom prst="rect">
            <a:avLst/>
          </a:prstGeom>
          <a:noFill/>
        </p:spPr>
        <p:txBody>
          <a:bodyPr wrap="square" rtlCol="0">
            <a:spAutoFit/>
          </a:bodyPr>
          <a:lstStyle/>
          <a:p>
            <a:pPr lvl="0"/>
            <a:endParaRPr lang="en-IN" sz="2000" b="1" dirty="0"/>
          </a:p>
          <a:p>
            <a:pPr marL="342900" lvl="0" indent="-34290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Integration with Mobile Applications</a:t>
            </a:r>
            <a:r>
              <a:rPr lang="en-IN" dirty="0">
                <a:latin typeface="Times New Roman" panose="02020603050405020304" pitchFamily="18" charset="0"/>
                <a:cs typeface="Times New Roman" panose="02020603050405020304" pitchFamily="18" charset="0"/>
              </a:rPr>
              <a:t> – Passengers can receive real-time bus arrival notifications and alerts directly on their smartphones, enabling better trip planning.</a:t>
            </a:r>
          </a:p>
          <a:p>
            <a:pPr marL="342900" lvl="0" indent="-34290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Advanced Sensor Technologies</a:t>
            </a:r>
            <a:r>
              <a:rPr lang="en-IN" dirty="0">
                <a:latin typeface="Times New Roman" panose="02020603050405020304" pitchFamily="18" charset="0"/>
                <a:cs typeface="Times New Roman" panose="02020603050405020304" pitchFamily="18" charset="0"/>
              </a:rPr>
              <a:t> – Incorporating infrared or camera-based sensors can improve accuracy in detecting buses and passenger presence, even in crowded or low-light conditions.</a:t>
            </a:r>
          </a:p>
          <a:p>
            <a:pPr marL="342900" lvl="0" indent="-34290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Solar-Powered Operation</a:t>
            </a:r>
            <a:r>
              <a:rPr lang="en-IN" dirty="0">
                <a:latin typeface="Times New Roman" panose="02020603050405020304" pitchFamily="18" charset="0"/>
                <a:cs typeface="Times New Roman" panose="02020603050405020304" pitchFamily="18" charset="0"/>
              </a:rPr>
              <a:t> – Implementing solar panels can make the system energy-efficient and self-sustaining, reducing dependency on external power sources.</a:t>
            </a:r>
          </a:p>
          <a:p>
            <a:pPr marL="342900" lvl="0" indent="-34290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Internet of Things (IoT) Connectivity</a:t>
            </a:r>
            <a:r>
              <a:rPr lang="en-IN" dirty="0">
                <a:latin typeface="Times New Roman" panose="02020603050405020304" pitchFamily="18" charset="0"/>
                <a:cs typeface="Times New Roman" panose="02020603050405020304" pitchFamily="18" charset="0"/>
              </a:rPr>
              <a:t> – Connecting bus stops to a central server allows for real-time monitoring, data analytics, and predictive maintenance of buses and stop infrastructure.</a:t>
            </a:r>
          </a:p>
          <a:p>
            <a:pPr marL="342900" lvl="0" indent="-34290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Voice Assistance and AI Integration</a:t>
            </a:r>
            <a:r>
              <a:rPr lang="en-IN" dirty="0">
                <a:latin typeface="Times New Roman" panose="02020603050405020304" pitchFamily="18" charset="0"/>
                <a:cs typeface="Times New Roman" panose="02020603050405020304" pitchFamily="18" charset="0"/>
              </a:rPr>
              <a:t> – Voice notifications and AI-based predictive features can further enhance passenger convenience, especially for visually impaired individuals.</a:t>
            </a:r>
          </a:p>
          <a:p>
            <a:pPr marL="342900" lvl="0" indent="-34290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Emergency Management Features</a:t>
            </a:r>
            <a:r>
              <a:rPr lang="en-IN" dirty="0">
                <a:latin typeface="Times New Roman" panose="02020603050405020304" pitchFamily="18" charset="0"/>
                <a:cs typeface="Times New Roman" panose="02020603050405020304" pitchFamily="18" charset="0"/>
              </a:rPr>
              <a:t> – The system can be integrated with local authorities to provide automatic alerts in case of accidents, delays, or security threats.</a:t>
            </a:r>
          </a:p>
          <a:p>
            <a:pPr marL="342900" lvl="0" indent="-34290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Scalability for Smart Cities</a:t>
            </a:r>
            <a:r>
              <a:rPr lang="en-IN" dirty="0">
                <a:latin typeface="Times New Roman" panose="02020603050405020304" pitchFamily="18" charset="0"/>
                <a:cs typeface="Times New Roman" panose="02020603050405020304" pitchFamily="18" charset="0"/>
              </a:rPr>
              <a:t> – The system can be expanded across multiple bus stops in a city, forming an interconnected network for efficient traffic management and passenger information.</a:t>
            </a:r>
          </a:p>
          <a:p>
            <a:pPr lvl="0"/>
            <a:endParaRPr lang="en-IN" sz="2000" dirty="0"/>
          </a:p>
        </p:txBody>
      </p:sp>
    </p:spTree>
    <p:extLst>
      <p:ext uri="{BB962C8B-B14F-4D97-AF65-F5344CB8AC3E}">
        <p14:creationId xmlns:p14="http://schemas.microsoft.com/office/powerpoint/2010/main" val="8845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8A28A-CE07-D2C8-A3F8-3416FAE3F23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AC6064D-35ED-9AA2-4B0E-4A0D7A73D4AA}"/>
              </a:ext>
            </a:extLst>
          </p:cNvPr>
          <p:cNvPicPr>
            <a:picLocks noChangeAspect="1"/>
          </p:cNvPicPr>
          <p:nvPr/>
        </p:nvPicPr>
        <p:blipFill>
          <a:blip r:embed="rId2" cstate="print"/>
          <a:srcRect t="20925" b="14217"/>
          <a:stretch>
            <a:fillRect/>
          </a:stretch>
        </p:blipFill>
        <p:spPr>
          <a:xfrm>
            <a:off x="127004" y="98812"/>
            <a:ext cx="2816934" cy="958645"/>
          </a:xfrm>
          <a:prstGeom prst="rect">
            <a:avLst/>
          </a:prstGeom>
        </p:spPr>
      </p:pic>
      <p:pic>
        <p:nvPicPr>
          <p:cNvPr id="6" name="Picture 5">
            <a:extLst>
              <a:ext uri="{FF2B5EF4-FFF2-40B4-BE49-F238E27FC236}">
                <a16:creationId xmlns:a16="http://schemas.microsoft.com/office/drawing/2014/main" id="{F72BE0BF-D3E0-4F70-5E97-3A3E702EF638}"/>
              </a:ext>
            </a:extLst>
          </p:cNvPr>
          <p:cNvPicPr>
            <a:picLocks noChangeAspect="1"/>
          </p:cNvPicPr>
          <p:nvPr/>
        </p:nvPicPr>
        <p:blipFill>
          <a:blip r:embed="rId3" cstate="print"/>
          <a:stretch>
            <a:fillRect/>
          </a:stretch>
        </p:blipFill>
        <p:spPr>
          <a:xfrm>
            <a:off x="5919020" y="287895"/>
            <a:ext cx="979948" cy="736822"/>
          </a:xfrm>
          <a:prstGeom prst="rect">
            <a:avLst/>
          </a:prstGeom>
        </p:spPr>
      </p:pic>
      <p:pic>
        <p:nvPicPr>
          <p:cNvPr id="8" name="Picture 7">
            <a:extLst>
              <a:ext uri="{FF2B5EF4-FFF2-40B4-BE49-F238E27FC236}">
                <a16:creationId xmlns:a16="http://schemas.microsoft.com/office/drawing/2014/main" id="{3F5EEAFC-7985-EDAA-21F1-81855FF825B3}"/>
              </a:ext>
            </a:extLst>
          </p:cNvPr>
          <p:cNvPicPr>
            <a:picLocks noChangeAspect="1"/>
          </p:cNvPicPr>
          <p:nvPr/>
        </p:nvPicPr>
        <p:blipFill rotWithShape="1">
          <a:blip r:embed="rId4"/>
          <a:srcRect l="17820" r="18861"/>
          <a:stretch/>
        </p:blipFill>
        <p:spPr>
          <a:xfrm>
            <a:off x="11282517" y="191728"/>
            <a:ext cx="680332" cy="635895"/>
          </a:xfrm>
          <a:prstGeom prst="rect">
            <a:avLst/>
          </a:prstGeom>
        </p:spPr>
      </p:pic>
      <p:sp>
        <p:nvSpPr>
          <p:cNvPr id="10" name="Rectangle 9">
            <a:extLst>
              <a:ext uri="{FF2B5EF4-FFF2-40B4-BE49-F238E27FC236}">
                <a16:creationId xmlns:a16="http://schemas.microsoft.com/office/drawing/2014/main" id="{F3BFDBB4-6E99-3E7E-75D5-82881710FBC6}"/>
              </a:ext>
            </a:extLst>
          </p:cNvPr>
          <p:cNvSpPr/>
          <p:nvPr/>
        </p:nvSpPr>
        <p:spPr>
          <a:xfrm>
            <a:off x="206477" y="1287292"/>
            <a:ext cx="11783962" cy="589072"/>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400" b="1" dirty="0"/>
              <a:t>CONCLUSION</a:t>
            </a:r>
            <a:endParaRPr lang="en-IN" sz="2400" dirty="0"/>
          </a:p>
        </p:txBody>
      </p:sp>
      <p:sp>
        <p:nvSpPr>
          <p:cNvPr id="11" name="TextBox 10">
            <a:extLst>
              <a:ext uri="{FF2B5EF4-FFF2-40B4-BE49-F238E27FC236}">
                <a16:creationId xmlns:a16="http://schemas.microsoft.com/office/drawing/2014/main" id="{A77AB1DD-FB8C-B803-9713-E60517FB3FC6}"/>
              </a:ext>
            </a:extLst>
          </p:cNvPr>
          <p:cNvSpPr txBox="1"/>
          <p:nvPr/>
        </p:nvSpPr>
        <p:spPr>
          <a:xfrm>
            <a:off x="766916" y="2861187"/>
            <a:ext cx="10658167" cy="261610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The proposed smart bus stop system provides an innovative, technologically advanced solution to modernize rural and urban transport infrastructure. By utilizing solar energy, smart card ticketing, emergency alerts, and real-time information displays, this system ensures passenger safety, enhances commuter convenience, and promotes green energy usage. It addresses the common challenges faced at traditional bus stops and introduces an affordable, scalable model that can be implemented in smart cities and smart villages across the country. This project not only improves the functionality of public transport but also contributes to a safer, cleaner, and more connected community.</a:t>
            </a:r>
          </a:p>
          <a:p>
            <a:r>
              <a:rPr lang="en-IN" dirty="0">
                <a:latin typeface="Times New Roman" panose="02020603050405020304" pitchFamily="18" charset="0"/>
                <a:cs typeface="Times New Roman" panose="02020603050405020304" pitchFamily="18" charset="0"/>
              </a:rPr>
              <a:t> </a:t>
            </a:r>
          </a:p>
          <a:p>
            <a:pPr lvl="0"/>
            <a:endParaRPr lang="en-IN" sz="2000" dirty="0"/>
          </a:p>
        </p:txBody>
      </p:sp>
    </p:spTree>
    <p:extLst>
      <p:ext uri="{BB962C8B-B14F-4D97-AF65-F5344CB8AC3E}">
        <p14:creationId xmlns:p14="http://schemas.microsoft.com/office/powerpoint/2010/main" val="3654001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EDC Zeroth Review PPT</Template>
  <TotalTime>259</TotalTime>
  <Words>1181</Words>
  <Application>Microsoft Office PowerPoint</Application>
  <PresentationFormat>Widescreen</PresentationFormat>
  <Paragraphs>106</Paragraphs>
  <Slides>15</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Deepak Sakthivel</dc:creator>
  <cp:lastModifiedBy>Deepak Sakthivel</cp:lastModifiedBy>
  <cp:revision>8</cp:revision>
  <dcterms:created xsi:type="dcterms:W3CDTF">2025-08-19T23:54:31Z</dcterms:created>
  <dcterms:modified xsi:type="dcterms:W3CDTF">2025-12-12T15:42:48Z</dcterms:modified>
</cp:coreProperties>
</file>